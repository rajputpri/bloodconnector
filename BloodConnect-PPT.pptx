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466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Demand</c:v>
                </c:pt>
              </c:strCache>
            </c:strRef>
          </c:tx>
          <c:spPr>
            <a:solidFill>
              <a:srgbClr val="DC2626"/>
            </a:solidFill>
          </c:spPr>
          <c:invertIfNegative val="1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13.2</c:v>
                </c:pt>
                <c:pt idx="1">
                  <c:v>13.8</c:v>
                </c:pt>
                <c:pt idx="2">
                  <c:v>14.1</c:v>
                </c:pt>
                <c:pt idx="3">
                  <c:v>14.4</c:v>
                </c:pt>
                <c:pt idx="4">
                  <c:v>14.6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6ED-4222-899C-08812E2F6EA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Supply</c:v>
                </c:pt>
              </c:strCache>
            </c:strRef>
          </c:tx>
          <c:spPr>
            <a:solidFill>
              <a:srgbClr val="D4A24C"/>
            </a:solidFill>
          </c:spPr>
          <c:invertIfNegative val="1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11.6</c:v>
                </c:pt>
                <c:pt idx="1">
                  <c:v>12</c:v>
                </c:pt>
                <c:pt idx="2">
                  <c:v>12.6</c:v>
                </c:pt>
                <c:pt idx="3">
                  <c:v>13</c:v>
                </c:pt>
                <c:pt idx="4">
                  <c:v>13.1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A6ED-4222-899C-08812E2F6E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>
              <a:latin typeface="Inter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01200" y="-914400"/>
            <a:ext cx="3657600" cy="3657600"/>
          </a:xfrm>
          <a:prstGeom prst="ellipse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961120" y="2011680"/>
            <a:ext cx="2560320" cy="256032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09760" y="2377440"/>
            <a:ext cx="731520" cy="731520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731520"/>
            <a:ext cx="137160" cy="137160"/>
          </a:xfrm>
          <a:prstGeom prst="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65836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D4A24C"/>
                </a:solidFill>
                <a:latin typeface="Consolas"/>
              </a:rPr>
              <a:t>EMERGENCY BLOOD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315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FFFFF"/>
                </a:solidFill>
                <a:latin typeface="Inter"/>
              </a:rPr>
              <a:t>Blood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7315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D4A24C"/>
                </a:solidFill>
                <a:latin typeface="Inter"/>
              </a:rPr>
              <a:t>Connect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297680"/>
            <a:ext cx="1097280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1">
                <a:solidFill>
                  <a:srgbClr val="FFFFFF"/>
                </a:solidFill>
                <a:latin typeface="Inter"/>
              </a:rPr>
              <a:t>Real-time blood donation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D4A24C"/>
                </a:solidFill>
                <a:latin typeface="Consolas"/>
              </a:rPr>
              <a:t>BCA SEMESTER 7  ·  DSC-M-CBA 471P  ·  GUJARAT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126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Inter"/>
              </a:rPr>
              <a:t>Prince Rajput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1264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D4A24C"/>
                </a:solidFill>
                <a:latin typeface="Consolas"/>
              </a:rPr>
              <a:t>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0" y="914400"/>
            <a:ext cx="36576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0" b="1" i="0">
                <a:solidFill>
                  <a:srgbClr val="991B1B"/>
                </a:solidFill>
                <a:latin typeface="Inter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CCCC"/>
                </a:solidFill>
                <a:latin typeface="Consola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FFFFF"/>
                </a:solidFill>
                <a:latin typeface="Inter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931920"/>
            <a:ext cx="1828800" cy="91440"/>
          </a:xfrm>
          <a:prstGeom prst="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FFE5E5"/>
                </a:solidFill>
                <a:latin typeface="Inter"/>
              </a:rPr>
              <a:t>India faces a critical blood shortage — traditional methods are failing.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548640"/>
            <a:ext cx="1645920" cy="32004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6400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414"/>
                </a:solidFill>
                <a:latin typeface="Inter"/>
              </a:rPr>
              <a:t>Blood shortage is real.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7A6D6D"/>
                </a:solidFill>
                <a:latin typeface="Inter"/>
              </a:rPr>
              <a:t>Every minute counts in an emergency.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C2626"/>
                </a:solidFill>
                <a:latin typeface="Inter"/>
              </a:rPr>
              <a:t>14.6M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5603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D2E2E"/>
                </a:solidFill>
                <a:latin typeface="Inter"/>
              </a:rPr>
              <a:t>blood units needed yearly in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C2626"/>
                </a:solidFill>
                <a:latin typeface="Inter"/>
              </a:rPr>
              <a:t>1.5M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32461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D2E2E"/>
                </a:solidFill>
                <a:latin typeface="Inter"/>
              </a:rPr>
              <a:t>unit shortage every single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C2626"/>
                </a:solidFill>
                <a:latin typeface="Inter"/>
              </a:rPr>
              <a:t>63%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9319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D2E2E"/>
                </a:solidFill>
                <a:latin typeface="Inter"/>
              </a:rPr>
              <a:t>of transfusions face delays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C2626"/>
                </a:solidFill>
                <a:latin typeface="Inter"/>
              </a:rPr>
              <a:t>72h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46177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D2E2E"/>
                </a:solidFill>
                <a:latin typeface="Inter"/>
              </a:rPr>
              <a:t>average donor search 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2468880"/>
            <a:ext cx="42976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89520" y="2651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DC2626"/>
                </a:solidFill>
                <a:latin typeface="Consolas"/>
              </a:rPr>
              <a:t>BLOOD DEMAND vs SUPPLY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7589520" y="3017520"/>
          <a:ext cx="3749039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A6D6D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0" y="914400"/>
            <a:ext cx="36576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0" b="1" i="0">
                <a:solidFill>
                  <a:srgbClr val="991B1B"/>
                </a:solidFill>
                <a:latin typeface="Inter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CCCC"/>
                </a:solidFill>
                <a:latin typeface="Consola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FFFFF"/>
                </a:solidFill>
                <a:latin typeface="Inter"/>
              </a:rPr>
              <a:t>Our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931920"/>
            <a:ext cx="1828800" cy="91440"/>
          </a:xfrm>
          <a:prstGeom prst="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FFE5E5"/>
                </a:solidFill>
                <a:latin typeface="Inter"/>
              </a:rPr>
              <a:t>A verified, real-time, pledge-based network that actually works.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548640"/>
            <a:ext cx="1828800" cy="32004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414"/>
                </a:solidFill>
                <a:latin typeface="Inter"/>
              </a:rPr>
              <a:t>BloodConnect — the fix.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7A6D6D"/>
                </a:solidFill>
                <a:latin typeface="Inter"/>
              </a:rPr>
              <a:t>One platform. Three roles. Zero friction.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356616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651760"/>
            <a:ext cx="356616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3017520"/>
            <a:ext cx="914400" cy="27432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414"/>
                </a:solidFill>
                <a:latin typeface="Inter"/>
              </a:rPr>
              <a:t>Post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30175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300" b="1">
                <a:solidFill>
                  <a:srgbClr val="DC2626"/>
                </a:solidFill>
                <a:latin typeface="Inter"/>
              </a:rPr>
              <a:t>·  </a:t>
            </a:r>
            <a:r>
              <a:rPr sz="1300">
                <a:solidFill>
                  <a:srgbClr val="7A6D6D"/>
                </a:solidFill>
                <a:latin typeface="Inter"/>
              </a:rPr>
              <a:t>Location + urgency aware</a:t>
            </a:r>
          </a:p>
          <a:p>
            <a:pPr>
              <a:lnSpc>
                <a:spcPct val="150000"/>
              </a:lnSpc>
            </a:pPr>
            <a:r>
              <a:rPr sz="1300" b="1">
                <a:solidFill>
                  <a:srgbClr val="DC2626"/>
                </a:solidFill>
                <a:latin typeface="Inter"/>
              </a:rPr>
              <a:t>·  </a:t>
            </a:r>
            <a:r>
              <a:rPr sz="1300">
                <a:solidFill>
                  <a:srgbClr val="7A6D6D"/>
                </a:solidFill>
                <a:latin typeface="Inter"/>
              </a:rPr>
              <a:t>Real-time status tracking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56616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2651760"/>
            <a:ext cx="3566160" cy="91440"/>
          </a:xfrm>
          <a:prstGeom prst="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63440" y="3017520"/>
            <a:ext cx="914400" cy="274320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DONOR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5661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414"/>
                </a:solidFill>
                <a:latin typeface="Inter"/>
              </a:rPr>
              <a:t>Pledge to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4206240"/>
            <a:ext cx="30175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300" b="1">
                <a:solidFill>
                  <a:srgbClr val="DC2626"/>
                </a:solidFill>
                <a:latin typeface="Inter"/>
              </a:rPr>
              <a:t>·  </a:t>
            </a:r>
            <a:r>
              <a:rPr sz="1300">
                <a:solidFill>
                  <a:srgbClr val="7A6D6D"/>
                </a:solidFill>
                <a:latin typeface="Inter"/>
              </a:rPr>
              <a:t>Verified profile</a:t>
            </a:r>
          </a:p>
          <a:p>
            <a:pPr>
              <a:lnSpc>
                <a:spcPct val="150000"/>
              </a:lnSpc>
            </a:pPr>
            <a:r>
              <a:rPr sz="1300" b="1">
                <a:solidFill>
                  <a:srgbClr val="DC2626"/>
                </a:solidFill>
                <a:latin typeface="Inter"/>
              </a:rPr>
              <a:t>·  </a:t>
            </a:r>
            <a:r>
              <a:rPr sz="1300">
                <a:solidFill>
                  <a:srgbClr val="7A6D6D"/>
                </a:solidFill>
                <a:latin typeface="Inter"/>
              </a:rPr>
              <a:t>Track donations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651760"/>
            <a:ext cx="356616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651760"/>
            <a:ext cx="3566160" cy="91440"/>
          </a:xfrm>
          <a:prstGeom prst="rect">
            <a:avLst/>
          </a:prstGeom>
          <a:solidFill>
            <a:srgbClr val="1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12480" y="3017520"/>
            <a:ext cx="914400" cy="274320"/>
          </a:xfrm>
          <a:prstGeom prst="roundRect">
            <a:avLst/>
          </a:prstGeom>
          <a:solidFill>
            <a:srgbClr val="1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5661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414"/>
                </a:solidFill>
                <a:latin typeface="Inter"/>
              </a:rPr>
              <a:t>Manage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206240"/>
            <a:ext cx="30175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300" b="1">
                <a:solidFill>
                  <a:srgbClr val="DC2626"/>
                </a:solidFill>
                <a:latin typeface="Inter"/>
              </a:rPr>
              <a:t>·  </a:t>
            </a:r>
            <a:r>
              <a:rPr sz="1300">
                <a:solidFill>
                  <a:srgbClr val="7A6D6D"/>
                </a:solidFill>
                <a:latin typeface="Inter"/>
              </a:rPr>
              <a:t>Ban / Unban</a:t>
            </a:r>
          </a:p>
          <a:p>
            <a:pPr>
              <a:lnSpc>
                <a:spcPct val="150000"/>
              </a:lnSpc>
            </a:pPr>
            <a:r>
              <a:rPr sz="1300" b="1">
                <a:solidFill>
                  <a:srgbClr val="DC2626"/>
                </a:solidFill>
                <a:latin typeface="Inter"/>
              </a:rPr>
              <a:t>·  </a:t>
            </a:r>
            <a:r>
              <a:rPr sz="1300">
                <a:solidFill>
                  <a:srgbClr val="7A6D6D"/>
                </a:solidFill>
                <a:latin typeface="Inter"/>
              </a:rPr>
              <a:t>Dashboard + analytics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A6D6D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4A24C"/>
                </a:solidFill>
                <a:latin typeface="Consolas"/>
              </a:rP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Inter"/>
              </a:rPr>
              <a:t>Built with a modern stack.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828800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2651760" cy="17373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834640"/>
            <a:ext cx="1097280" cy="256032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450A0A"/>
                </a:solidFill>
                <a:latin typeface="Inter"/>
              </a:rPr>
              <a:t>.NET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3756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ASP.NET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87171"/>
                </a:solidFill>
                <a:latin typeface="Consolas"/>
              </a:rPr>
              <a:t>Core MVC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651760"/>
            <a:ext cx="2651760" cy="17373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11880" y="2834640"/>
            <a:ext cx="1097280" cy="256032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450A0A"/>
                </a:solidFill>
                <a:latin typeface="Inter"/>
              </a:rPr>
              <a:t>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33756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EF 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7947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87171"/>
                </a:solidFill>
                <a:latin typeface="Consolas"/>
              </a:rPr>
              <a:t>10.x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51760"/>
            <a:ext cx="2651760" cy="17373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00800" y="2834640"/>
            <a:ext cx="1097280" cy="256032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450A0A"/>
                </a:solidFill>
                <a:latin typeface="Inter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SQL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947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87171"/>
                </a:solidFill>
                <a:latin typeface="Consolas"/>
              </a:rPr>
              <a:t>Express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2651760"/>
            <a:ext cx="2651760" cy="17373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89720" y="2834640"/>
            <a:ext cx="1097280" cy="256032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450A0A"/>
                </a:solidFill>
                <a:latin typeface="Inter"/>
              </a:rPr>
              <a:t>3 ROLES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333756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Identity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7947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87171"/>
                </a:solidFill>
                <a:latin typeface="Consolas"/>
              </a:rPr>
              <a:t>Auth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2651760" cy="17373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60" y="4754880"/>
            <a:ext cx="1097280" cy="256032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450A0A"/>
                </a:solidFill>
                <a:latin typeface="Inter"/>
              </a:rPr>
              <a:t>CSHTML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5780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Razor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87171"/>
                </a:solidFill>
                <a:latin typeface="Consolas"/>
              </a:rPr>
              <a:t>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4572000"/>
            <a:ext cx="2651760" cy="17373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611880" y="4754880"/>
            <a:ext cx="1097280" cy="256032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450A0A"/>
                </a:solidFill>
                <a:latin typeface="Inter"/>
              </a:rPr>
              <a:t>RESPONSIVE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525780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Bootstrap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57150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87171"/>
                </a:solidFill>
                <a:latin typeface="Consolas"/>
              </a:rPr>
              <a:t>5.x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572000"/>
            <a:ext cx="2651760" cy="17373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0" y="4754880"/>
            <a:ext cx="1097280" cy="256032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450A0A"/>
                </a:solidFill>
                <a:latin typeface="Inter"/>
              </a:rPr>
              <a:t>API DOCS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25780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Swagger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7150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87171"/>
                </a:solidFill>
                <a:latin typeface="Consolas"/>
              </a:rPr>
              <a:t>OpenAPI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4572000"/>
            <a:ext cx="2651760" cy="17373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189720" y="4754880"/>
            <a:ext cx="1097280" cy="256032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450A0A"/>
                </a:solidFill>
                <a:latin typeface="Inter"/>
              </a:rPr>
              <a:t>LIVE HOST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525780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MonsterASP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57150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87171"/>
                </a:solidFill>
                <a:latin typeface="Consolas"/>
              </a:rPr>
              <a:t>.NET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75555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548640"/>
            <a:ext cx="2011680" cy="32004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414"/>
                </a:solidFill>
                <a:latin typeface="Inter"/>
              </a:rPr>
              <a:t>Model · View · Controller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017520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DC2626"/>
                </a:solidFill>
                <a:latin typeface="Inter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D2E2E"/>
                </a:solidFill>
                <a:latin typeface="Inter"/>
              </a:rPr>
              <a:t>Donor · BloodRequest
DonationOffer · AppUser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301752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DC2626"/>
                </a:solidFill>
                <a:latin typeface="Inte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377440"/>
            <a:ext cx="30175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2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2377440"/>
            <a:ext cx="3017520" cy="73152"/>
          </a:xfrm>
          <a:prstGeom prst="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D4A24C"/>
                </a:solidFill>
                <a:latin typeface="Inter"/>
              </a:rPr>
              <a:t>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383280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D2E2E"/>
                </a:solidFill>
                <a:latin typeface="Inter"/>
              </a:rPr>
              <a:t>Razor .cshtml
Bootstrap 5 + Custom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01752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D4A24C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0175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2377440"/>
            <a:ext cx="3017520" cy="73152"/>
          </a:xfrm>
          <a:prstGeom prst="rect">
            <a:avLst/>
          </a:prstGeom>
          <a:solidFill>
            <a:srgbClr val="1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27432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A1414"/>
                </a:solidFill>
                <a:latin typeface="Inter"/>
              </a:rPr>
              <a:t>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383280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D2E2E"/>
                </a:solidFill>
                <a:latin typeface="Inter"/>
              </a:rPr>
              <a:t>Business logic
Auth · CRUD ·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63440"/>
            <a:ext cx="10881360" cy="1463040"/>
          </a:xfrm>
          <a:prstGeom prst="roundRect">
            <a:avLst/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D4A24C"/>
                </a:solidFill>
                <a:latin typeface="Consolas"/>
              </a:rPr>
              <a:t>DATABASE — 8 TABLES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349240"/>
            <a:ext cx="1691640" cy="3657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Users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5349240"/>
            <a:ext cx="1691640" cy="3657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Donors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5349240"/>
            <a:ext cx="1691640" cy="3657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BloodRequests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5349240"/>
            <a:ext cx="1691640" cy="3657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DonationOffers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5349240"/>
            <a:ext cx="1691640" cy="3657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ContactMessages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29800" y="5349240"/>
            <a:ext cx="1691640" cy="36576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+3 Identity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A6D6D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548640"/>
            <a:ext cx="1554480" cy="32004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414"/>
                </a:solidFill>
                <a:latin typeface="Inter"/>
              </a:rPr>
              <a:t>What makes it complete.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1A1414"/>
                </a:solidFill>
                <a:latin typeface="Inter"/>
              </a:rP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060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1414"/>
                </a:solidFill>
                <a:latin typeface="Inter"/>
              </a:rPr>
              <a:t>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06324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A6D6D"/>
                </a:solidFill>
                <a:latin typeface="Inter"/>
              </a:rPr>
              <a:t>ASP.NET Identity · 3 roles · Ban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663440" y="2560320"/>
            <a:ext cx="822960" cy="822960"/>
          </a:xfrm>
          <a:prstGeom prst="ellipse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269748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1A1414"/>
                </a:solidFill>
                <a:latin typeface="Inter"/>
              </a:rPr>
              <a:t>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6060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1414"/>
                </a:solidFill>
                <a:latin typeface="Inter"/>
              </a:rPr>
              <a:t>Blood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06324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A6D6D"/>
                </a:solidFill>
                <a:latin typeface="Inter"/>
              </a:rPr>
              <a:t>Compatibility matrix · O− / AB+ logic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19456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0" y="2560320"/>
            <a:ext cx="822960" cy="822960"/>
          </a:xfrm>
          <a:prstGeom prst="ellipse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269748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1A1414"/>
                </a:solidFill>
                <a:latin typeface="Inter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6060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1414"/>
                </a:solidFill>
                <a:latin typeface="Inter"/>
              </a:rPr>
              <a:t>Request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306324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A6D6D"/>
                </a:solidFill>
                <a:latin typeface="Inter"/>
              </a:rPr>
              <a:t>Post · Filter · Track · Fulfill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6052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14400" y="4526280"/>
            <a:ext cx="822960" cy="822960"/>
          </a:xfrm>
          <a:prstGeom prst="ellipse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1A1414"/>
                </a:solidFill>
                <a:latin typeface="Inter"/>
              </a:rPr>
              <a:t>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5720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1414"/>
                </a:solidFill>
                <a:latin typeface="Inter"/>
              </a:rPr>
              <a:t>Donation Pledge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02920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A6D6D"/>
                </a:solidFill>
                <a:latin typeface="Inter"/>
              </a:rPr>
              <a:t>Two-way confirmation 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16052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663440" y="4526280"/>
            <a:ext cx="822960" cy="822960"/>
          </a:xfrm>
          <a:prstGeom prst="ellipse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66344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1A1414"/>
                </a:solidFill>
                <a:latin typeface="Inter"/>
              </a:rPr>
              <a:t>🛡️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45720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1414"/>
                </a:solidFill>
                <a:latin typeface="Inter"/>
              </a:rPr>
              <a:t>Admin Panel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502920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A6D6D"/>
                </a:solidFill>
                <a:latin typeface="Inter"/>
              </a:rPr>
              <a:t>Users · Donors · Requests · Messages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16052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412480" y="4526280"/>
            <a:ext cx="822960" cy="822960"/>
          </a:xfrm>
          <a:prstGeom prst="ellipse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66344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1A1414"/>
                </a:solidFill>
                <a:latin typeface="Inter"/>
              </a:rPr>
              <a:t>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45720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1414"/>
                </a:solidFill>
                <a:latin typeface="Inter"/>
              </a:rPr>
              <a:t>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502920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A6D6D"/>
                </a:solidFill>
                <a:latin typeface="Inter"/>
              </a:rPr>
              <a:t>Real-time stats · Personal insights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A6D6D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548640"/>
            <a:ext cx="2377440" cy="320040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1A0E0E"/>
                </a:solidFill>
                <a:latin typeface="Inter"/>
              </a:rPr>
              <a:t>★ UNIQUE FEATURE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315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Inter"/>
              </a:rPr>
              <a:t>Blood Compatibility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F87171"/>
                </a:solidFill>
                <a:latin typeface="Inter"/>
              </a:rPr>
              <a:t>Medical accuracy built into every search.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468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O−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468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O+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0" y="2468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A−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468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A+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468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B−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468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B+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468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AB−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468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AB+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O−</a:t>
            </a:r>
          </a:p>
        </p:txBody>
      </p:sp>
      <p:sp>
        <p:nvSpPr>
          <p:cNvPr id="14" name="Oval 13"/>
          <p:cNvSpPr/>
          <p:nvPr/>
        </p:nvSpPr>
        <p:spPr>
          <a:xfrm>
            <a:off x="6473952" y="299923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022592" y="29992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71232" y="29992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119872" y="29992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68512" y="29992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217152" y="29992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765792" y="29992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314432" y="29992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0" y="347472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O+</a:t>
            </a:r>
          </a:p>
        </p:txBody>
      </p:sp>
      <p:sp>
        <p:nvSpPr>
          <p:cNvPr id="23" name="Oval 22"/>
          <p:cNvSpPr/>
          <p:nvPr/>
        </p:nvSpPr>
        <p:spPr>
          <a:xfrm>
            <a:off x="6473952" y="354787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022592" y="354787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571232" y="35478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119872" y="35478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668512" y="35478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217152" y="35478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65792" y="35478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314432" y="35478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0" y="402336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A−</a:t>
            </a:r>
          </a:p>
        </p:txBody>
      </p:sp>
      <p:sp>
        <p:nvSpPr>
          <p:cNvPr id="32" name="Oval 31"/>
          <p:cNvSpPr/>
          <p:nvPr/>
        </p:nvSpPr>
        <p:spPr>
          <a:xfrm>
            <a:off x="6473952" y="40965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022592" y="409651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571232" y="40965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119872" y="409651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668512" y="409651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217152" y="409651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9765792" y="409651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0314432" y="409651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43600" y="45720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A+</a:t>
            </a:r>
          </a:p>
        </p:txBody>
      </p:sp>
      <p:sp>
        <p:nvSpPr>
          <p:cNvPr id="41" name="Oval 40"/>
          <p:cNvSpPr/>
          <p:nvPr/>
        </p:nvSpPr>
        <p:spPr>
          <a:xfrm>
            <a:off x="6473952" y="464515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022592" y="464515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571232" y="464515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8119872" y="464515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668512" y="464515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9217152" y="464515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9765792" y="464515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0314432" y="464515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943600" y="512064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B−</a:t>
            </a:r>
          </a:p>
        </p:txBody>
      </p:sp>
      <p:sp>
        <p:nvSpPr>
          <p:cNvPr id="50" name="Oval 49"/>
          <p:cNvSpPr/>
          <p:nvPr/>
        </p:nvSpPr>
        <p:spPr>
          <a:xfrm>
            <a:off x="6473952" y="519379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7022592" y="519379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7571232" y="519379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8119872" y="519379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668512" y="519379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217152" y="519379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9765792" y="519379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10314432" y="519379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943600" y="566928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B+</a:t>
            </a:r>
          </a:p>
        </p:txBody>
      </p:sp>
      <p:sp>
        <p:nvSpPr>
          <p:cNvPr id="59" name="Oval 58"/>
          <p:cNvSpPr/>
          <p:nvPr/>
        </p:nvSpPr>
        <p:spPr>
          <a:xfrm>
            <a:off x="6473952" y="574243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7022592" y="574243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7571232" y="57424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119872" y="57424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668512" y="574243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217152" y="574243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765792" y="57424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10314432" y="574243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943600" y="621792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AB−</a:t>
            </a:r>
          </a:p>
        </p:txBody>
      </p:sp>
      <p:sp>
        <p:nvSpPr>
          <p:cNvPr id="68" name="Oval 67"/>
          <p:cNvSpPr/>
          <p:nvPr/>
        </p:nvSpPr>
        <p:spPr>
          <a:xfrm>
            <a:off x="6473952" y="629107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7022592" y="62910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7571232" y="629107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8119872" y="62910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8668512" y="629107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9217152" y="62910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9765792" y="629107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10314432" y="6291072"/>
            <a:ext cx="402336" cy="402336"/>
          </a:xfrm>
          <a:prstGeom prst="ellipse">
            <a:avLst/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943600" y="676656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D4A24C"/>
                </a:solidFill>
                <a:latin typeface="Consolas"/>
              </a:rPr>
              <a:t>AB+</a:t>
            </a:r>
          </a:p>
        </p:txBody>
      </p:sp>
      <p:sp>
        <p:nvSpPr>
          <p:cNvPr id="77" name="Oval 76"/>
          <p:cNvSpPr/>
          <p:nvPr/>
        </p:nvSpPr>
        <p:spPr>
          <a:xfrm>
            <a:off x="6473952" y="68397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7022592" y="68397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571232" y="68397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8119872" y="68397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8668512" y="68397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9217152" y="68397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9765792" y="68397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10314432" y="6839712"/>
            <a:ext cx="402336" cy="40233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943600" y="74066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998888"/>
                </a:solidFill>
                <a:latin typeface="Consolas"/>
              </a:rPr>
              <a:t>Rows = Donors · Columns = Receivers</a:t>
            </a:r>
          </a:p>
        </p:txBody>
      </p:sp>
      <p:sp>
        <p:nvSpPr>
          <p:cNvPr id="86" name="Oval 85"/>
          <p:cNvSpPr/>
          <p:nvPr/>
        </p:nvSpPr>
        <p:spPr>
          <a:xfrm>
            <a:off x="822960" y="2834640"/>
            <a:ext cx="640080" cy="64008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22960" y="295351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onsolas"/>
              </a:rPr>
              <a:t>O−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45920" y="28803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Universal donor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45920" y="32004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BA8A8"/>
                </a:solidFill>
                <a:latin typeface="Inter"/>
              </a:rPr>
              <a:t>Can donate to all 8 groups</a:t>
            </a:r>
          </a:p>
        </p:txBody>
      </p:sp>
      <p:sp>
        <p:nvSpPr>
          <p:cNvPr id="90" name="Oval 89"/>
          <p:cNvSpPr/>
          <p:nvPr/>
        </p:nvSpPr>
        <p:spPr>
          <a:xfrm>
            <a:off x="822960" y="3703320"/>
            <a:ext cx="640080" cy="64008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22960" y="382219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onsolas"/>
              </a:rPr>
              <a:t>AB+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5920" y="37490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Universal receiver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645920" y="40690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BA8A8"/>
                </a:solidFill>
                <a:latin typeface="Inter"/>
              </a:rPr>
              <a:t>Can receive from all 8 groups</a:t>
            </a:r>
          </a:p>
        </p:txBody>
      </p:sp>
      <p:sp>
        <p:nvSpPr>
          <p:cNvPr id="94" name="Oval 93"/>
          <p:cNvSpPr/>
          <p:nvPr/>
        </p:nvSpPr>
        <p:spPr>
          <a:xfrm>
            <a:off x="822960" y="4572000"/>
            <a:ext cx="640080" cy="64008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822960" y="469087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onsolas"/>
              </a:rPr>
              <a:t>A+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45920" y="46177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Most common (India)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45920" y="49377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BA8A8"/>
                </a:solidFill>
                <a:latin typeface="Inter"/>
              </a:rPr>
              <a:t>~30% of population</a:t>
            </a:r>
          </a:p>
        </p:txBody>
      </p:sp>
      <p:sp>
        <p:nvSpPr>
          <p:cNvPr id="98" name="Oval 97"/>
          <p:cNvSpPr/>
          <p:nvPr/>
        </p:nvSpPr>
        <p:spPr>
          <a:xfrm>
            <a:off x="822960" y="5440680"/>
            <a:ext cx="640080" cy="64008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22960" y="555955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onsolas"/>
              </a:rPr>
              <a:t>B+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45920" y="54864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Second most common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45920" y="58064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BA8A8"/>
                </a:solidFill>
                <a:latin typeface="Inter"/>
              </a:rPr>
              <a:t>~24% of population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09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75555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548640"/>
            <a:ext cx="2377440" cy="320040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★ UNIQUE FEATURE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414"/>
                </a:solidFill>
                <a:latin typeface="Inter"/>
              </a:rPr>
              <a:t>Pledge-Based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7A6D6D"/>
                </a:solidFill>
                <a:latin typeface="Inter"/>
              </a:rPr>
              <a:t>Two-way confirmation prevents fake fulfillments.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DC2626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C2626"/>
                </a:solidFill>
                <a:latin typeface="Inter"/>
              </a:rPr>
              <a:t>PLEDGE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86200"/>
            <a:ext cx="365760" cy="5486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0574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D2E2E"/>
                </a:solidFill>
                <a:latin typeface="Inter"/>
              </a:rPr>
              <a:t>Donor clicks
"I can donate"
→ Offer created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4408" y="40233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C2626"/>
                </a:solidFill>
                <a:latin typeface="Inter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65176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49040" y="278892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D4A24C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47472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4A24C"/>
                </a:solidFill>
                <a:latin typeface="Inter"/>
              </a:rPr>
              <a:t>ACCEPT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40" y="3886200"/>
            <a:ext cx="365760" cy="54864"/>
          </a:xfrm>
          <a:prstGeom prst="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49040" y="4114800"/>
            <a:ext cx="20574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D2E2E"/>
                </a:solidFill>
                <a:latin typeface="Inter"/>
              </a:rPr>
              <a:t>Owner reviews
offers
→ Others auto-reject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8" y="40233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4A24C"/>
                </a:solidFill>
                <a:latin typeface="Inter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65176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78892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991B1B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991B1B"/>
                </a:solidFill>
                <a:latin typeface="Inter"/>
              </a:rPr>
              <a:t>COMPLETE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886200"/>
            <a:ext cx="365760" cy="54864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4114800"/>
            <a:ext cx="20574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D2E2E"/>
                </a:solidFill>
                <a:latin typeface="Inter"/>
              </a:rPr>
              <a:t>Donor + Owner
mark donation
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33688" y="40233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991B1B"/>
                </a:solidFill>
                <a:latin typeface="Inter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265176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0" y="278892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414"/>
                </a:solidFill>
                <a:latin typeface="Consola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47472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FULFILL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0" y="3886200"/>
            <a:ext cx="365760" cy="54864"/>
          </a:xfrm>
          <a:prstGeom prst="rect">
            <a:avLst/>
          </a:prstGeom>
          <a:solidFill>
            <a:srgbClr val="1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18320" y="4114800"/>
            <a:ext cx="20574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D2E2E"/>
                </a:solidFill>
                <a:latin typeface="Inter"/>
              </a:rPr>
              <a:t>Request status
= Fulfilled
→ 3 lives saved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6126480"/>
            <a:ext cx="10881360" cy="457200"/>
          </a:xfrm>
          <a:prstGeom prst="round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91B1B"/>
                </a:solidFill>
                <a:latin typeface="Consolas"/>
              </a:rPr>
              <a:t>STATUS FLOW:  Pledged  →  Accepted  →  Completed  →  Fulfilled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A6D6D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548640"/>
            <a:ext cx="1463040" cy="32004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REST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Inter"/>
              </a:rPr>
              <a:t>APIs with Swagger UI.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F87171"/>
                </a:solidFill>
                <a:latin typeface="Inter"/>
              </a:rPr>
              <a:t>Live-testable REST endpoints — GET, POST, PUT, DELETE.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777240" cy="27432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6700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/api/donor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2688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98888"/>
                </a:solidFill>
                <a:latin typeface="Inter"/>
              </a:rPr>
              <a:t>List donors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35808"/>
            <a:ext cx="777240" cy="27432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054096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/api/donor/{id}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30723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98888"/>
                </a:solidFill>
                <a:latin typeface="Inter"/>
              </a:rPr>
              <a:t>Single donor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777240" cy="27432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3814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/api/donor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4564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98888"/>
                </a:solidFill>
                <a:latin typeface="Inter"/>
              </a:rPr>
              <a:t>Create donor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03904"/>
            <a:ext cx="777240" cy="274320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2219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/api/donor/{id}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840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98888"/>
                </a:solidFill>
                <a:latin typeface="Inter"/>
              </a:rPr>
              <a:t>Update donor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87952"/>
            <a:ext cx="777240" cy="27432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DELETE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2062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/api/donor/{id}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245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98888"/>
                </a:solidFill>
                <a:latin typeface="Inter"/>
              </a:rPr>
              <a:t>Delete donor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777240" cy="27432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9028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/api/donor/search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60857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98888"/>
                </a:solidFill>
                <a:latin typeface="Inter"/>
              </a:rPr>
              <a:t>Compatibility 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956048"/>
            <a:ext cx="777240" cy="27432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974336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/api/bloodrequest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99262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98888"/>
                </a:solidFill>
                <a:latin typeface="Inter"/>
              </a:rPr>
              <a:t>List requests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40096"/>
            <a:ext cx="777240" cy="27432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35838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/api/bloodrequest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53766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98888"/>
                </a:solidFill>
                <a:latin typeface="Inter"/>
              </a:rPr>
              <a:t>Create request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79" y="2651760"/>
            <a:ext cx="3566160" cy="3383280"/>
          </a:xfrm>
          <a:prstGeom prst="round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0" y="28346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D4A24C"/>
                </a:solidFill>
                <a:latin typeface="Consolas"/>
              </a:rPr>
              <a:t>WHY IT'S SOLID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2918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✅  Proper HTTP verbs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67588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✅  Status codes 200/201/404/401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059936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✅  DTO pattern — privacy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44398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✅  Owner + Admin checks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82803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✅  Swagger UI for live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21208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✅  Postman-compatible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75555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0" y="457200"/>
            <a:ext cx="36576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0" b="1" i="0">
                <a:solidFill>
                  <a:srgbClr val="991B1B"/>
                </a:solidFill>
                <a:latin typeface="Inter"/>
              </a:rPr>
              <a:t>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645920" cy="320040"/>
          </a:xfrm>
          <a:prstGeom prst="round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DC2626"/>
                </a:solidFill>
                <a:latin typeface="Inter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Inter"/>
              </a:rPr>
              <a:t>It's live. Right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51760"/>
            <a:ext cx="1828800" cy="91440"/>
          </a:xfrm>
          <a:prstGeom prst="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10698480" cy="118872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D4A24C"/>
                </a:solidFill>
                <a:latin typeface="Consolas"/>
              </a:rPr>
              <a:t>LIVE 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onsolas"/>
              </a:rPr>
              <a:t>bloodconnector.runasp.net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D4A24C"/>
                </a:solidFill>
                <a:latin typeface="Consolas"/>
              </a:rPr>
              <a:t>DEMO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onsolas"/>
              </a:rPr>
              <a:t>admin@bloodconnect.com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onsolas"/>
              </a:rPr>
              <a:t>Admin@123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6634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D4A24C"/>
                </a:solidFill>
                <a:latin typeface="Consolas"/>
              </a:rPr>
              <a:t>DEPLOYED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0292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MonsterASP.NET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3949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FFCCCC"/>
                </a:solidFill>
                <a:latin typeface="Inter"/>
              </a:rPr>
              <a:t>HTTPS · Let's Encrypt · Auto-deploy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548640"/>
            <a:ext cx="1371600" cy="32004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414"/>
                </a:solidFill>
                <a:latin typeface="Inter"/>
              </a:rPr>
              <a:t>Real numbers. Real promise.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86000"/>
            <a:ext cx="26517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2651760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DC2626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Lives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A6D6D"/>
                </a:solidFill>
                <a:latin typeface="Inter"/>
              </a:rPr>
              <a:t>per single donation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286000"/>
            <a:ext cx="26517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4720" y="2286000"/>
            <a:ext cx="2651760" cy="73152"/>
          </a:xfrm>
          <a:prstGeom prst="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49040" y="274320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D4A24C"/>
                </a:solidFill>
                <a:latin typeface="Inter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6576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Blood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406908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A6D6D"/>
                </a:solidFill>
                <a:latin typeface="Inter"/>
              </a:rPr>
              <a:t>compatibility aware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286000"/>
            <a:ext cx="26517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2286000"/>
            <a:ext cx="2651760" cy="73152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274320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991B1B"/>
                </a:solidFill>
                <a:latin typeface="Inter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576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User roles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A6D6D"/>
                </a:solidFill>
                <a:latin typeface="Inter"/>
              </a:rPr>
              <a:t>SuperAdmin · Admin · User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2286000"/>
            <a:ext cx="26517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44000" y="2286000"/>
            <a:ext cx="2651760" cy="73152"/>
          </a:xfrm>
          <a:prstGeom prst="rect">
            <a:avLst/>
          </a:prstGeom>
          <a:solidFill>
            <a:srgbClr val="1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18320" y="274320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A1414"/>
                </a:solidFill>
                <a:latin typeface="Inter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36576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06908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A6D6D"/>
                </a:solidFill>
                <a:latin typeface="Inter"/>
              </a:rPr>
              <a:t>zero cost, forever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120640"/>
            <a:ext cx="10881360" cy="1097280"/>
          </a:xfrm>
          <a:prstGeom prst="round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91440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257800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1A1414"/>
                </a:solidFill>
                <a:latin typeface="Inter"/>
              </a:rPr>
              <a:t>"One donation can save up to three lives. The only thing standing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1A1414"/>
                </a:solidFill>
                <a:latin typeface="Inter"/>
              </a:rPr>
              <a:t>between a patient and a donor is a network. Help us build it."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A6D6D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548640"/>
            <a:ext cx="1828800" cy="32004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414"/>
                </a:solidFill>
                <a:latin typeface="Inter"/>
              </a:rPr>
              <a:t>What's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7A6D6D"/>
                </a:solidFill>
                <a:latin typeface="Inter"/>
              </a:rPr>
              <a:t>The roadmap from MVP to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2468880" y="2423160"/>
            <a:ext cx="18288" cy="4023360"/>
          </a:xfrm>
          <a:prstGeom prst="rect">
            <a:avLst/>
          </a:prstGeom>
          <a:solidFill>
            <a:srgbClr val="DD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395728" y="237744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3134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DC2626"/>
                </a:solidFill>
                <a:latin typeface="Consolas"/>
              </a:rPr>
              <a:t>Q1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2860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Mobile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30428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6D6D"/>
                </a:solidFill>
                <a:latin typeface="Inter"/>
              </a:rPr>
              <a:t>React Native / Flutter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306324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992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DC2626"/>
                </a:solidFill>
                <a:latin typeface="Consolas"/>
              </a:rPr>
              <a:t>Q2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9718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Hospital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99008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6D6D"/>
                </a:solidFill>
                <a:latin typeface="Inter"/>
              </a:rPr>
              <a:t>Direct request integration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2395728" y="374904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6850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DC2626"/>
                </a:solidFill>
                <a:latin typeface="Consolas"/>
              </a:rPr>
              <a:t>Q3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6576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Notifications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67588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6D6D"/>
                </a:solidFill>
                <a:latin typeface="Inter"/>
              </a:rPr>
              <a:t>Email (SendGrid) + SMS (Twilio)</a:t>
            </a:r>
          </a:p>
        </p:txBody>
      </p:sp>
      <p:sp>
        <p:nvSpPr>
          <p:cNvPr id="18" name="Oval 17"/>
          <p:cNvSpPr/>
          <p:nvPr/>
        </p:nvSpPr>
        <p:spPr>
          <a:xfrm>
            <a:off x="2395728" y="443484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3708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DC2626"/>
                </a:solidFill>
                <a:latin typeface="Consolas"/>
              </a:rPr>
              <a:t>Q4 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3434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Analytics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36168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6D6D"/>
                </a:solidFill>
                <a:latin typeface="Inter"/>
              </a:rPr>
              <a:t>Chart.js dashboards for admins</a:t>
            </a:r>
          </a:p>
        </p:txBody>
      </p:sp>
      <p:sp>
        <p:nvSpPr>
          <p:cNvPr id="22" name="Oval 21"/>
          <p:cNvSpPr/>
          <p:nvPr/>
        </p:nvSpPr>
        <p:spPr>
          <a:xfrm>
            <a:off x="2395728" y="512064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0566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DC2626"/>
                </a:solidFill>
                <a:latin typeface="Consolas"/>
              </a:rPr>
              <a:t>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50292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Multi-language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04748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6D6D"/>
                </a:solidFill>
                <a:latin typeface="Inter"/>
              </a:rPr>
              <a:t>Hindi · Gujarati · English</a:t>
            </a:r>
          </a:p>
        </p:txBody>
      </p:sp>
      <p:sp>
        <p:nvSpPr>
          <p:cNvPr id="26" name="Oval 25"/>
          <p:cNvSpPr/>
          <p:nvPr/>
        </p:nvSpPr>
        <p:spPr>
          <a:xfrm>
            <a:off x="2395728" y="580644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74243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DC2626"/>
                </a:solidFill>
                <a:latin typeface="Consolas"/>
              </a:rPr>
              <a:t>2028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57150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414"/>
                </a:solidFill>
                <a:latin typeface="Inter"/>
              </a:rPr>
              <a:t>Map-based 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573328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6D6D"/>
                </a:solidFill>
                <a:latin typeface="Inter"/>
              </a:rPr>
              <a:t>Google Maps donor visualization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A6D6D"/>
                </a:solidFill>
                <a:latin typeface="Consolas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A6D6D"/>
                </a:solidFill>
                <a:latin typeface="Consolas"/>
              </a:rPr>
              <a:t>BLOODCONNECT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058400" y="5029200"/>
            <a:ext cx="3657600" cy="3657600"/>
          </a:xfrm>
          <a:prstGeom prst="ellipse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0" y="1097280"/>
            <a:ext cx="1280160" cy="128016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852160" y="1371600"/>
            <a:ext cx="320040" cy="320040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FFFFFF"/>
                </a:solidFill>
                <a:latin typeface="Inter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632704" y="3840480"/>
            <a:ext cx="914400" cy="54864"/>
          </a:xfrm>
          <a:prstGeom prst="rect">
            <a:avLst/>
          </a:prstGeom>
          <a:solidFill>
            <a:srgbClr val="D4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1">
                <a:solidFill>
                  <a:srgbClr val="D4A24C"/>
                </a:solidFill>
                <a:latin typeface="Inter"/>
              </a:rPr>
              <a:t>Every drop counts.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D4A24C"/>
                </a:solidFill>
                <a:latin typeface="Consolas"/>
              </a:rPr>
              <a:t>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Consolas"/>
              </a:rPr>
              <a:t>bloodconnector.runasp.net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50292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D4A24C"/>
                </a:solidFill>
                <a:latin typeface="Consolas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53492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Consolas"/>
              </a:rPr>
              <a:t>github.com/rajputpri/BloodConnector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50292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D4A24C"/>
                </a:solidFill>
                <a:latin typeface="Consolas"/>
              </a:rPr>
              <a:t>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53492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Consolas"/>
              </a:rPr>
              <a:t>Prince Rajput · BCA Sem-7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0">
        <p159:morph option="byObject"/>
      </p:transition>
    </mc:Choice>
    <mc:Fallback>
      <p:transition spd="slow" advClick="0" advTm="3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789</Words>
  <Application>Microsoft Office PowerPoint</Application>
  <PresentationFormat>Widescreen</PresentationFormat>
  <Paragraphs>266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Prince Rajput</cp:lastModifiedBy>
  <cp:revision>2</cp:revision>
  <dcterms:created xsi:type="dcterms:W3CDTF">2013-01-27T09:14:16Z</dcterms:created>
  <dcterms:modified xsi:type="dcterms:W3CDTF">2026-10-03T15:47:54Z</dcterms:modified>
  <cp:category/>
</cp:coreProperties>
</file>