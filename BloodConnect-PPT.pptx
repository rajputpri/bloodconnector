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13.2</c:v>
                </c:pt>
                <c:pt idx="1">
                  <c:v>13.8</c:v>
                </c:pt>
                <c:pt idx="2">
                  <c:v>14.1</c:v>
                </c:pt>
                <c:pt idx="3">
                  <c:v>14.4</c:v>
                </c:pt>
                <c:pt idx="4">
                  <c:v>14.6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Supply</c:v>
                </c:pt>
              </c:strCache>
            </c:strRef>
          </c:tx>
          <c:spPr>
            <a:solidFill>
              <a:srgbClr val="D4A24C"/>
            </a:solidFill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11.6</c:v>
                </c:pt>
                <c:pt idx="1">
                  <c:v>12.0</c:v>
                </c:pt>
                <c:pt idx="2">
                  <c:v>12.6</c:v>
                </c:pt>
                <c:pt idx="3">
                  <c:v>13.0</c:v>
                </c:pt>
                <c:pt idx="4">
                  <c:v>13.1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1097280"/>
            <a:ext cx="4114800" cy="4114800"/>
          </a:xfrm>
          <a:prstGeom prst="ellipse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846320"/>
            <a:ext cx="3200400" cy="3200400"/>
          </a:xfrm>
          <a:prstGeom prst="ellipse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2103120"/>
            <a:ext cx="2651760" cy="265176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468880"/>
            <a:ext cx="777240" cy="7772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731520"/>
            <a:ext cx="146304" cy="14630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83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4A24C"/>
                </a:solidFill>
                <a:latin typeface="Consolas"/>
              </a:rPr>
              <a:t>EMERGENCY BLOOD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12500" b="1" i="0">
                <a:solidFill>
                  <a:srgbClr val="FFFFFF"/>
                </a:solidFill>
                <a:latin typeface="Inter"/>
              </a:rPr>
              <a:t>Blood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12500" b="1" i="0">
                <a:solidFill>
                  <a:srgbClr val="D4A24C"/>
                </a:solidFill>
                <a:latin typeface="Inter"/>
              </a:rPr>
              <a:t>Connect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434840"/>
            <a:ext cx="128016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FFFFFF"/>
                </a:solidFill>
                <a:latin typeface="Inter"/>
              </a:rPr>
              <a:t>Real-Time Blood Donation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CBBBB"/>
                </a:solidFill>
                <a:latin typeface="Inter"/>
              </a:rPr>
              <a:t>Compatibility-aware matching  ·  Pledge-based workflow  ·  Live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4A24C"/>
                </a:solidFill>
                <a:latin typeface="Consolas"/>
              </a:rPr>
              <a:t>BCA SEMESTER 7   ·   DSC-M-CBA 471P   ·   GUJARAT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Prince Rajput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30936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 i="0">
                <a:solidFill>
                  <a:srgbClr val="D4A24C"/>
                </a:solidFill>
                <a:latin typeface="Consola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137160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A1414"/>
                </a:solidFill>
                <a:latin typeface="Inter"/>
              </a:rPr>
              <a:t>What we'll cover.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7A6D6D"/>
                </a:solidFill>
                <a:latin typeface="Inter"/>
              </a:rPr>
              <a:t>From problem to production — a complete walkthrough.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8892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78892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90088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DC2626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900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1414"/>
                </a:solidFill>
                <a:latin typeface="Inter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832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India's blood shortage crisis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8892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788920"/>
            <a:ext cx="73152" cy="109728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990088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D4A24C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9900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1414"/>
                </a:solidFill>
                <a:latin typeface="Inter"/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3832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How BloodConnect fixes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50792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050792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5196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563EB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51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1414"/>
                </a:solidFill>
                <a:latin typeface="Inter"/>
              </a:rPr>
              <a:t>Tech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451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Modern .NET stack + SignalR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050792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050792"/>
            <a:ext cx="73152" cy="10972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25196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6A34A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251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1414"/>
                </a:solidFill>
                <a:latin typeface="Inter"/>
              </a:rPr>
              <a:t>Signature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6451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Real-time · Compatibility ·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12664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312664"/>
            <a:ext cx="73152" cy="10972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513832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C3AED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5138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1414"/>
                </a:solidFill>
                <a:latin typeface="Inter"/>
              </a:rPr>
              <a:t>Live Screenshots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90702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Real evidence from production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312664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5312664"/>
            <a:ext cx="73152" cy="10972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5513832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A580C"/>
                </a:solidFill>
                <a:latin typeface="Consola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5138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1414"/>
                </a:solidFill>
                <a:latin typeface="Inter"/>
              </a:rPr>
              <a:t>Live 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90702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It's live. Right now.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731520"/>
            <a:ext cx="3657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0" b="1" i="0">
                <a:solidFill>
                  <a:srgbClr val="7F1D1D"/>
                </a:solidFill>
                <a:latin typeface="Inte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CCCC"/>
                </a:solidFill>
                <a:latin typeface="Consolas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0" b="1" i="0">
                <a:solidFill>
                  <a:srgbClr val="FFFFFF"/>
                </a:solidFill>
                <a:latin typeface="Inter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2286000" cy="109728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FFE5E5"/>
                </a:solidFill>
                <a:latin typeface="Inter"/>
              </a:rPr>
              <a:t>India faces a critical blood shortage — traditional methods are failing.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173736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A1414"/>
                </a:solidFill>
                <a:latin typeface="Inter"/>
              </a:rPr>
              <a:t>Blood shortage is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7A6D6D"/>
                </a:solidFill>
                <a:latin typeface="Inter"/>
              </a:rPr>
              <a:t>Every minute counts in an emergency.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51760"/>
            <a:ext cx="54864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DC2626"/>
                </a:solidFill>
                <a:latin typeface="Inter"/>
              </a:rPr>
              <a:t>14.6M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72491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D2E2E"/>
                </a:solidFill>
                <a:latin typeface="Inter"/>
              </a:rPr>
              <a:t>blood units needed yearly in 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29000"/>
            <a:ext cx="54864" cy="4572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991B1B"/>
                </a:solidFill>
                <a:latin typeface="Inter"/>
              </a:rPr>
              <a:t>1.5M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5021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D2E2E"/>
                </a:solidFill>
                <a:latin typeface="Inter"/>
              </a:rPr>
              <a:t>unit shortage every single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206240"/>
            <a:ext cx="54864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A580C"/>
                </a:solidFill>
                <a:latin typeface="Inter"/>
              </a:rPr>
              <a:t>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2793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D2E2E"/>
                </a:solidFill>
                <a:latin typeface="Inter"/>
              </a:rPr>
              <a:t>of transfusions face critical delays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9834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377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F4444"/>
                </a:solidFill>
                <a:latin typeface="Inter"/>
              </a:rPr>
              <a:t>72h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0566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D2E2E"/>
                </a:solidFill>
                <a:latin typeface="Inter"/>
              </a:rPr>
              <a:t>average donor search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377440"/>
            <a:ext cx="43891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2377440"/>
            <a:ext cx="4389120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606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C2626"/>
                </a:solidFill>
                <a:latin typeface="Consolas"/>
              </a:rPr>
              <a:t>BLOOD DEMAND vs SUPPLY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7452360" y="3017520"/>
          <a:ext cx="393192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731520"/>
            <a:ext cx="3657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0" b="1" i="0">
                <a:solidFill>
                  <a:srgbClr val="7F1D1D"/>
                </a:solidFill>
                <a:latin typeface="Inter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CCCC"/>
                </a:solidFill>
                <a:latin typeface="Consola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0" b="1" i="0">
                <a:solidFill>
                  <a:srgbClr val="FFFFFF"/>
                </a:solidFill>
                <a:latin typeface="Inter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2286000" cy="109728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FFE5E5"/>
                </a:solidFill>
                <a:latin typeface="Inter"/>
              </a:rPr>
              <a:t>A verified, real-time, pledge-based network that actually 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201168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A1414"/>
                </a:solidFill>
                <a:latin typeface="Inter"/>
              </a:rPr>
              <a:t>BloodConnect — the fix.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7A6D6D"/>
                </a:solidFill>
                <a:latin typeface="Inter"/>
              </a:rPr>
              <a:t>One platform. Three roles. Zero 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83464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834640"/>
            <a:ext cx="3566160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3200400"/>
            <a:ext cx="100584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A1414"/>
                </a:solidFill>
                <a:latin typeface="Inter"/>
              </a:rPr>
              <a:t>Post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52628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300" b="1">
                <a:solidFill>
                  <a:srgbClr val="DC2626"/>
                </a:solidFill>
                <a:latin typeface="Inter"/>
              </a:rPr>
              <a:t>·  </a:t>
            </a:r>
            <a:r>
              <a:rPr sz="1300">
                <a:solidFill>
                  <a:srgbClr val="7A6D6D"/>
                </a:solidFill>
                <a:latin typeface="Inter"/>
              </a:rPr>
              <a:t>Location + urgency aware</a:t>
            </a:r>
          </a:p>
          <a:p>
            <a:pPr>
              <a:lnSpc>
                <a:spcPct val="160000"/>
              </a:lnSpc>
            </a:pPr>
            <a:r>
              <a:rPr sz="1300" b="1">
                <a:solidFill>
                  <a:srgbClr val="DC2626"/>
                </a:solidFill>
                <a:latin typeface="Inter"/>
              </a:rPr>
              <a:t>·  </a:t>
            </a:r>
            <a:r>
              <a:rPr sz="1300">
                <a:solidFill>
                  <a:srgbClr val="7A6D6D"/>
                </a:solidFill>
                <a:latin typeface="Inter"/>
              </a:rPr>
              <a:t>Real-time status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83464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834640"/>
            <a:ext cx="3566160" cy="109728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3200400"/>
            <a:ext cx="1005840" cy="320040"/>
          </a:xfrm>
          <a:prstGeom prst="round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DONOR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8404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A1414"/>
                </a:solidFill>
                <a:latin typeface="Inter"/>
              </a:rPr>
              <a:t>Pledge to help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52628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300" b="1">
                <a:solidFill>
                  <a:srgbClr val="DC2626"/>
                </a:solidFill>
                <a:latin typeface="Inter"/>
              </a:rPr>
              <a:t>·  </a:t>
            </a:r>
            <a:r>
              <a:rPr sz="1300">
                <a:solidFill>
                  <a:srgbClr val="7A6D6D"/>
                </a:solidFill>
                <a:latin typeface="Inter"/>
              </a:rPr>
              <a:t>Verified profile + age check</a:t>
            </a:r>
          </a:p>
          <a:p>
            <a:pPr>
              <a:lnSpc>
                <a:spcPct val="160000"/>
              </a:lnSpc>
            </a:pPr>
            <a:r>
              <a:rPr sz="1300" b="1">
                <a:solidFill>
                  <a:srgbClr val="DC2626"/>
                </a:solidFill>
                <a:latin typeface="Inter"/>
              </a:rPr>
              <a:t>·  </a:t>
            </a:r>
            <a:r>
              <a:rPr sz="1300">
                <a:solidFill>
                  <a:srgbClr val="7A6D6D"/>
                </a:solidFill>
                <a:latin typeface="Inter"/>
              </a:rPr>
              <a:t>Track every donation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83464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2834640"/>
            <a:ext cx="3566160" cy="109728"/>
          </a:xfrm>
          <a:prstGeom prst="rect">
            <a:avLst/>
          </a:prstGeom>
          <a:solidFill>
            <a:srgbClr val="1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0" y="3200400"/>
            <a:ext cx="1005840" cy="320040"/>
          </a:xfrm>
          <a:prstGeom prst="roundRect">
            <a:avLst/>
          </a:prstGeom>
          <a:solidFill>
            <a:srgbClr val="1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8404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A1414"/>
                </a:solidFill>
                <a:latin typeface="Inter"/>
              </a:rPr>
              <a:t>Manage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52628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300" b="1">
                <a:solidFill>
                  <a:srgbClr val="DC2626"/>
                </a:solidFill>
                <a:latin typeface="Inter"/>
              </a:rPr>
              <a:t>·  </a:t>
            </a:r>
            <a:r>
              <a:rPr sz="1300">
                <a:solidFill>
                  <a:srgbClr val="7A6D6D"/>
                </a:solidFill>
                <a:latin typeface="Inter"/>
              </a:rPr>
              <a:t>Ban / Promote / Delete</a:t>
            </a:r>
          </a:p>
          <a:p>
            <a:pPr>
              <a:lnSpc>
                <a:spcPct val="160000"/>
              </a:lnSpc>
            </a:pPr>
            <a:r>
              <a:rPr sz="1300" b="1">
                <a:solidFill>
                  <a:srgbClr val="DC2626"/>
                </a:solidFill>
                <a:latin typeface="Inter"/>
              </a:rPr>
              <a:t>·  </a:t>
            </a:r>
            <a:r>
              <a:rPr sz="1300">
                <a:solidFill>
                  <a:srgbClr val="7A6D6D"/>
                </a:solidFill>
                <a:latin typeface="Inter"/>
              </a:rPr>
              <a:t>Full system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731520"/>
            <a:ext cx="3657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0" b="1" i="0">
                <a:solidFill>
                  <a:srgbClr val="7F1D1D"/>
                </a:solidFill>
                <a:latin typeface="Inter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CCCC"/>
                </a:solidFill>
                <a:latin typeface="Consola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0" b="1" i="0">
                <a:solidFill>
                  <a:srgbClr val="FFFFFF"/>
                </a:solidFill>
                <a:latin typeface="Inter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2286000" cy="109728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FFE5E5"/>
                </a:solidFill>
                <a:latin typeface="Inter"/>
              </a:rPr>
              <a:t>Modern .NET stack with real-time SignalR and cloud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D4A24C"/>
                </a:solidFill>
                <a:latin typeface="Consolas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Inter"/>
              </a:rPr>
              <a:t>Built with a modern stack.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57400"/>
            <a:ext cx="182880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2651760" cy="1783080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990088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9718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4A24C"/>
                </a:solidFill>
                <a:latin typeface="Consolas"/>
              </a:rPr>
              <a:t>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Inter"/>
              </a:rPr>
              <a:t>ASP.NET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AA9999"/>
                </a:solidFill>
                <a:latin typeface="Inter"/>
              </a:rPr>
              <a:t>MVC · .NET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788920"/>
            <a:ext cx="2651760" cy="1783080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299008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9718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4A24C"/>
                </a:solidFill>
                <a:latin typeface="Consolas"/>
              </a:rPr>
              <a:t>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29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Inter"/>
              </a:rPr>
              <a:t>Entity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9319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AA9999"/>
                </a:solidFill>
                <a:latin typeface="Inter"/>
              </a:rPr>
              <a:t>Code-First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88920"/>
            <a:ext cx="2651760" cy="1783080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2990088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9718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4A24C"/>
                </a:solidFill>
                <a:latin typeface="Consolas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29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Inter"/>
              </a:rPr>
              <a:t>SQL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9319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AA9999"/>
                </a:solidFill>
                <a:latin typeface="Inter"/>
              </a:rPr>
              <a:t>Express +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788920"/>
            <a:ext cx="2651760" cy="1783080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35440" y="2990088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9718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4A24C"/>
                </a:solidFill>
                <a:latin typeface="Consolas"/>
              </a:rPr>
              <a:t>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29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Inter"/>
              </a:rPr>
              <a:t>SignalR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9319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AA9999"/>
                </a:solidFill>
                <a:latin typeface="Inter"/>
              </a:rPr>
              <a:t>WebSocket Push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754880"/>
            <a:ext cx="2651760" cy="1783080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4956048"/>
            <a:ext cx="146304" cy="146304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9377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4A24C"/>
                </a:solidFill>
                <a:latin typeface="Consolas"/>
              </a:rP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949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Inter"/>
              </a:rPr>
              <a:t>Identity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97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AA9999"/>
                </a:solidFill>
                <a:latin typeface="Inter"/>
              </a:rPr>
              <a:t>Cookie Auth · 3 Roles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4754880"/>
            <a:ext cx="2651760" cy="1783080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57600" y="4956048"/>
            <a:ext cx="146304" cy="14630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49377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4A24C"/>
                </a:solidFill>
                <a:latin typeface="Consolas"/>
              </a:rPr>
              <a:t>UI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3949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Inter"/>
              </a:rPr>
              <a:t>Razor Pages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897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AA9999"/>
                </a:solidFill>
                <a:latin typeface="Inter"/>
              </a:rPr>
              <a:t>.cshtml Views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754880"/>
            <a:ext cx="2651760" cy="1783080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4956048"/>
            <a:ext cx="146304" cy="146304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9377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4A24C"/>
                </a:solidFill>
                <a:latin typeface="Consolas"/>
              </a:rPr>
              <a:t>API DOCS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3949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Inter"/>
              </a:rPr>
              <a:t>Swagger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897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AA9999"/>
                </a:solidFill>
                <a:latin typeface="Inter"/>
              </a:rPr>
              <a:t>OpenAPI 3.0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4754880"/>
            <a:ext cx="2651760" cy="1783080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35440" y="495604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0" y="49377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4A24C"/>
                </a:solidFill>
                <a:latin typeface="Consolas"/>
              </a:rPr>
              <a:t>HOSTING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3949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Inter"/>
              </a:rPr>
              <a:t>MonsterASP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897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AA9999"/>
                </a:solidFill>
                <a:latin typeface="Inter"/>
              </a:rPr>
              <a:t>HTTPS · Let's Encrypt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75555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219456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A1414"/>
                </a:solidFill>
                <a:latin typeface="Inter"/>
              </a:rPr>
              <a:t>Model · View ·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7A6D6D"/>
                </a:solidFill>
                <a:latin typeface="Inter"/>
              </a:rPr>
              <a:t>Clean separation — orchestrators, entities, and renderers.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06040"/>
            <a:ext cx="324612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606040"/>
            <a:ext cx="324612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DC2626"/>
                </a:solidFill>
                <a:latin typeface="Consolas"/>
              </a:rPr>
              <a:t>DATA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DC2626"/>
                </a:solidFill>
                <a:latin typeface="Inter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D2E2E"/>
                </a:solidFill>
                <a:latin typeface="Inter"/>
              </a:rPr>
              <a:t>Donor · BloodRequest
DonationOffer · AppUser
ContactMessage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34290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 i="0">
                <a:solidFill>
                  <a:srgbClr val="DC2626"/>
                </a:solidFill>
                <a:latin typeface="Inter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606040"/>
            <a:ext cx="324612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2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606040"/>
            <a:ext cx="3246120" cy="9144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8803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D4A24C"/>
                </a:solidFill>
                <a:latin typeface="Consolas"/>
              </a:rPr>
              <a:t>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2004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D4A24C"/>
                </a:solidFill>
                <a:latin typeface="Inter"/>
              </a:rPr>
              <a:t>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79476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D2E2E"/>
                </a:solidFill>
                <a:latin typeface="Inter"/>
              </a:rPr>
              <a:t>Razor .cshtml
Bootstrap 5 + Custom CSS
SVG Icons + Animations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34290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 i="0">
                <a:solidFill>
                  <a:srgbClr val="D4A24C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606040"/>
            <a:ext cx="324612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606040"/>
            <a:ext cx="3246120" cy="91440"/>
          </a:xfrm>
          <a:prstGeom prst="rect">
            <a:avLst/>
          </a:prstGeom>
          <a:solidFill>
            <a:srgbClr val="1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28803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A1414"/>
                </a:solidFill>
                <a:latin typeface="Consolas"/>
              </a:rPr>
              <a:t>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2004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1414"/>
                </a:solidFill>
                <a:latin typeface="Inter"/>
              </a:rPr>
              <a:t>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79476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D2E2E"/>
                </a:solidFill>
                <a:latin typeface="Inter"/>
              </a:rPr>
              <a:t>Auth · CRUD · API
SignalR Push · Notifications
Business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29200"/>
            <a:ext cx="10835640" cy="1371600"/>
          </a:xfrm>
          <a:prstGeom prst="roundRect">
            <a:avLst/>
          </a:prstGeom>
          <a:solidFill>
            <a:srgbClr val="14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12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D4A24C"/>
                </a:solidFill>
                <a:latin typeface="Consolas"/>
              </a:rPr>
              <a:t>DATABASE — 8 TABLES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5669280"/>
            <a:ext cx="1691640" cy="384048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Users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5669280"/>
            <a:ext cx="1691640" cy="384048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Donors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5669280"/>
            <a:ext cx="1691640" cy="384048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BloodRequests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669280"/>
            <a:ext cx="1691640" cy="384048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DonationOffers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5669280"/>
            <a:ext cx="1691640" cy="384048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ContactMessages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5669280"/>
            <a:ext cx="1691640" cy="384048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+3 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182880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A1414"/>
                </a:solidFill>
                <a:latin typeface="Inter"/>
              </a:rPr>
              <a:t>Entity relationships.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7A6D6D"/>
                </a:solidFill>
                <a:latin typeface="Inter"/>
              </a:rPr>
              <a:t>One user, one donor. Many requests, many offers.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603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560320"/>
            <a:ext cx="3291840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3347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AppUser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Id (PK)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Email · FullName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IsBanned · CreatedAt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Roles: SuperAdmin/Admin/User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5603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2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560320"/>
            <a:ext cx="3291840" cy="41148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63347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Donor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6324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DonorId (PK)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UserId (FK → AppUser)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Name · Age · BloodGroup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State · City · RowVersion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5603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2560320"/>
            <a:ext cx="329184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263347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BloodRequest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306324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RequestId (PK)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UserId (FK → AppUser)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BloodGroup · Urgency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Status · FulfilledByDonorId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4663440"/>
            <a:ext cx="329184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4663440"/>
            <a:ext cx="3291840" cy="411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47365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DonationOffer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516636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Id (PK)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RequestId (FK)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DonorId (FK)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Status: Pledged→Accepted→Completed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UNIQUE (RequestId, DonorId)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663440"/>
            <a:ext cx="329184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4663440"/>
            <a:ext cx="3291840" cy="411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7365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ContactMessage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6636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Id (PK)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Name · Email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Subject · Message</a:t>
            </a:r>
          </a:p>
          <a:p>
            <a:pPr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Inter"/>
              </a:rPr>
              <a:t>·  </a:t>
            </a:r>
            <a:r>
              <a:rPr sz="1000">
                <a:solidFill>
                  <a:srgbClr val="3D2E2E"/>
                </a:solidFill>
                <a:latin typeface="Inter"/>
              </a:rPr>
              <a:t>IsRead · CreatedAt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731520"/>
            <a:ext cx="3657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0" b="1" i="0">
                <a:solidFill>
                  <a:srgbClr val="7F1D1D"/>
                </a:solidFill>
                <a:latin typeface="Inter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CCCC"/>
                </a:solidFill>
                <a:latin typeface="Consolas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0" b="1" i="0">
                <a:solidFill>
                  <a:srgbClr val="FFFFFF"/>
                </a:solidFill>
                <a:latin typeface="Inter"/>
              </a:rPr>
              <a:t>Signature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2286000" cy="109728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FFE5E5"/>
                </a:solidFill>
                <a:latin typeface="Inter"/>
              </a:rPr>
              <a:t>Three features that make BloodConnect stand out from the crowd.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2743200" cy="347472"/>
          </a:xfrm>
          <a:prstGeom prst="round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140808"/>
                </a:solidFill>
                <a:latin typeface="Inter"/>
              </a:rPr>
              <a:t>★ SIGNATURE FEATURE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Inter"/>
              </a:rPr>
              <a:t>Real-Time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EF4444"/>
                </a:solidFill>
                <a:latin typeface="Inter"/>
              </a:rPr>
              <a:t>WebSocket-powered instant alerts — zero polling, zero refresh.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26080"/>
            <a:ext cx="2468880" cy="1737360"/>
          </a:xfrm>
          <a:prstGeom prst="roundRect">
            <a:avLst/>
          </a:prstGeom>
          <a:solidFill>
            <a:srgbClr val="450A0A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DC2626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DC2626"/>
                </a:solidFill>
                <a:latin typeface="Consolas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BBBB"/>
                </a:solidFill>
                <a:latin typeface="Inter"/>
              </a:rPr>
              <a:t>New request posted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56616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D4A24C"/>
                </a:solidFill>
                <a:latin typeface="Inter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926080"/>
            <a:ext cx="2468880" cy="1737360"/>
          </a:xfrm>
          <a:prstGeom prst="roundRect">
            <a:avLst/>
          </a:prstGeom>
          <a:solidFill>
            <a:srgbClr val="450A0A"/>
          </a:solidFill>
          <a:ln w="25400">
            <a:solidFill>
              <a:srgbClr val="D4A2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0632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D4A24C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4747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D4A24C"/>
                </a:solidFill>
                <a:latin typeface="Consolas"/>
              </a:rPr>
              <a:t>PUBLISH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9776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BBBB"/>
                </a:solidFill>
                <a:latin typeface="Inter"/>
              </a:rPr>
              <a:t>SignalR Hub broadcast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56616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D4A24C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926080"/>
            <a:ext cx="2468880" cy="1737360"/>
          </a:xfrm>
          <a:prstGeom prst="roundRect">
            <a:avLst/>
          </a:prstGeom>
          <a:solidFill>
            <a:srgbClr val="450A0A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0632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563EB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747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BBBB"/>
                </a:solidFill>
                <a:latin typeface="Inter"/>
              </a:rPr>
              <a:t>WebSocket to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56616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D4A24C"/>
                </a:solidFill>
                <a:latin typeface="Inte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926080"/>
            <a:ext cx="2468880" cy="1737360"/>
          </a:xfrm>
          <a:prstGeom prst="roundRect">
            <a:avLst/>
          </a:prstGeom>
          <a:solidFill>
            <a:srgbClr val="450A0A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30632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6A34A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4747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6A34A"/>
                </a:solidFill>
                <a:latin typeface="Consolas"/>
              </a:rPr>
              <a:t>REACT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9776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BBBB"/>
                </a:solidFill>
                <a:latin typeface="Inter"/>
              </a:rPr>
              <a:t>Bell + Toast + Sound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29200"/>
            <a:ext cx="2651760" cy="1097280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5193792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166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Inter"/>
              </a:rPr>
              <a:t>⚡ Instant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AA9999"/>
                </a:solidFill>
                <a:latin typeface="Inter"/>
              </a:rPr>
              <a:t>Sub-100ms delivery over WebSocket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5029200"/>
            <a:ext cx="2651760" cy="1097280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11880" y="519379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5166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Inter"/>
              </a:rPr>
              <a:t>🔋 Zero Poll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56235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AA9999"/>
                </a:solidFill>
                <a:latin typeface="Inter"/>
              </a:rPr>
              <a:t>No periodic AJAX — saves bandwidth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5029200"/>
            <a:ext cx="2651760" cy="1097280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0800" y="5193792"/>
            <a:ext cx="128016" cy="128016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5166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Inter"/>
              </a:rPr>
              <a:t>🔄 Auto-Retry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235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AA9999"/>
                </a:solidFill>
                <a:latin typeface="Inter"/>
              </a:rPr>
              <a:t>Exponential backoff reconnect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5029200"/>
            <a:ext cx="2651760" cy="1097280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89720" y="5193792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5166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Inter"/>
              </a:rPr>
              <a:t>💾 Cached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56235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AA9999"/>
                </a:solidFill>
                <a:latin typeface="Inter"/>
              </a:rPr>
              <a:t>60s IMemoryCache fallback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75555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2743200" cy="347472"/>
          </a:xfrm>
          <a:prstGeom prst="round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★ SIGNATURE FEATURE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315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A1414"/>
                </a:solidFill>
                <a:latin typeface="Inter"/>
              </a:rPr>
              <a:t>Blood Compatibility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7A6D6D"/>
                </a:solidFill>
                <a:latin typeface="Inter"/>
              </a:rPr>
              <a:t>Medical accuracy built into every search.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697480"/>
            <a:ext cx="685800" cy="6858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O−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7706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Universal donor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108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Can donate to all 8 groups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611880"/>
            <a:ext cx="685800" cy="68580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AB+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6850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Universal receiver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0233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Can receive from all 8 groups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526280"/>
            <a:ext cx="685800" cy="685800"/>
          </a:xfrm>
          <a:prstGeom prst="ellipse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A+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994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Most common (India)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9377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~30% of population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440680"/>
            <a:ext cx="685800" cy="685800"/>
          </a:xfrm>
          <a:prstGeom prst="ellipse">
            <a:avLst/>
          </a:prstGeom>
          <a:solidFill>
            <a:srgbClr val="1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7784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B+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5138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Second most common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8521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~24% of population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2468880"/>
            <a:ext cx="4846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2468880"/>
            <a:ext cx="4846320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26974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DC2626"/>
                </a:solidFill>
                <a:latin typeface="Consolas"/>
              </a:rPr>
              <a:t>RED CELL COMPATIBILITY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92608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O−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46136" y="292608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O+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292608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A−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808" y="292608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A+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292608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B−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92608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B+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7816" y="292608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AB−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0152" y="292608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AB+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2918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O−</a:t>
            </a:r>
          </a:p>
        </p:txBody>
      </p:sp>
      <p:sp>
        <p:nvSpPr>
          <p:cNvPr id="33" name="Oval 32"/>
          <p:cNvSpPr/>
          <p:nvPr/>
        </p:nvSpPr>
        <p:spPr>
          <a:xfrm>
            <a:off x="7598664" y="3300984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01000" y="3300984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03336" y="3300984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805672" y="3300984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08008" y="3300984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10344" y="3300984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12680" y="3300984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15016" y="3300984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369417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O+</a:t>
            </a:r>
          </a:p>
        </p:txBody>
      </p:sp>
      <p:sp>
        <p:nvSpPr>
          <p:cNvPr id="42" name="Oval 41"/>
          <p:cNvSpPr/>
          <p:nvPr/>
        </p:nvSpPr>
        <p:spPr>
          <a:xfrm>
            <a:off x="7598664" y="3703320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01000" y="3703320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03336" y="3703320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05672" y="3703320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08008" y="3703320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610344" y="3703320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012680" y="3703320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415016" y="3703320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95160" y="40965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A−</a:t>
            </a:r>
          </a:p>
        </p:txBody>
      </p:sp>
      <p:sp>
        <p:nvSpPr>
          <p:cNvPr id="51" name="Oval 50"/>
          <p:cNvSpPr/>
          <p:nvPr/>
        </p:nvSpPr>
        <p:spPr>
          <a:xfrm>
            <a:off x="7598664" y="410565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001000" y="4105656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403336" y="410565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805672" y="4105656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208008" y="4105656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610344" y="4105656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12680" y="4105656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415016" y="4105656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95160" y="449884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A+</a:t>
            </a:r>
          </a:p>
        </p:txBody>
      </p:sp>
      <p:sp>
        <p:nvSpPr>
          <p:cNvPr id="60" name="Oval 59"/>
          <p:cNvSpPr/>
          <p:nvPr/>
        </p:nvSpPr>
        <p:spPr>
          <a:xfrm>
            <a:off x="7598664" y="4507992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001000" y="4507992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403336" y="4507992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805672" y="4507992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208008" y="4507992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610344" y="4507992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012680" y="4507992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415016" y="4507992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95160" y="490118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B−</a:t>
            </a:r>
          </a:p>
        </p:txBody>
      </p:sp>
      <p:sp>
        <p:nvSpPr>
          <p:cNvPr id="69" name="Oval 68"/>
          <p:cNvSpPr/>
          <p:nvPr/>
        </p:nvSpPr>
        <p:spPr>
          <a:xfrm>
            <a:off x="7598664" y="491032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001000" y="4910328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403336" y="4910328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805672" y="4910328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08008" y="491032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10344" y="4910328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012680" y="4910328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415016" y="4910328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95160" y="5303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B+</a:t>
            </a:r>
          </a:p>
        </p:txBody>
      </p:sp>
      <p:sp>
        <p:nvSpPr>
          <p:cNvPr id="78" name="Oval 77"/>
          <p:cNvSpPr/>
          <p:nvPr/>
        </p:nvSpPr>
        <p:spPr>
          <a:xfrm>
            <a:off x="7598664" y="5312664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01000" y="5312664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403336" y="5312664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805672" y="5312664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208008" y="5312664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610344" y="5312664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012680" y="5312664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415016" y="5312664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95160" y="570585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AB−</a:t>
            </a:r>
          </a:p>
        </p:txBody>
      </p:sp>
      <p:sp>
        <p:nvSpPr>
          <p:cNvPr id="87" name="Oval 86"/>
          <p:cNvSpPr/>
          <p:nvPr/>
        </p:nvSpPr>
        <p:spPr>
          <a:xfrm>
            <a:off x="7598664" y="5715000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001000" y="5715000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403336" y="5715000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805672" y="5715000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208008" y="5715000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10344" y="5715000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012680" y="5715000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415016" y="5715000"/>
            <a:ext cx="292608" cy="292608"/>
          </a:xfrm>
          <a:prstGeom prst="ellipse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95160" y="61081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AB+</a:t>
            </a:r>
          </a:p>
        </p:txBody>
      </p:sp>
      <p:sp>
        <p:nvSpPr>
          <p:cNvPr id="96" name="Oval 95"/>
          <p:cNvSpPr/>
          <p:nvPr/>
        </p:nvSpPr>
        <p:spPr>
          <a:xfrm>
            <a:off x="7598664" y="611733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001000" y="611733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403336" y="611733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805672" y="611733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208008" y="611733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610344" y="611733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012680" y="611733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415016" y="611733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766560" y="66019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1">
                <a:solidFill>
                  <a:srgbClr val="7A6D6D"/>
                </a:solidFill>
                <a:latin typeface="Consolas"/>
              </a:rPr>
              <a:t>Rows = Donors  ·  Columns = Receivers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13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2743200" cy="347472"/>
          </a:xfrm>
          <a:prstGeom prst="round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★ SIGNATURE FEATURE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A1414"/>
                </a:solidFill>
                <a:latin typeface="Inter"/>
              </a:rPr>
              <a:t>Pledge-Based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7A6D6D"/>
                </a:solidFill>
                <a:latin typeface="Inter"/>
              </a:rPr>
              <a:t>Two-way confirmation prevents fake fulfillments.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26517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788920"/>
            <a:ext cx="265176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63240"/>
            <a:ext cx="1371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DC2626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862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DC2626"/>
                </a:solidFill>
                <a:latin typeface="Consolas"/>
              </a:rPr>
              <a:t>PLEDGE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4389120"/>
            <a:ext cx="45720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D2E2E"/>
                </a:solidFill>
                <a:latin typeface="Inter"/>
              </a:rPr>
              <a:t>Donor clicks
"I can donate"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406908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DC2626"/>
                </a:solidFill>
                <a:latin typeface="Inte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2788920"/>
            <a:ext cx="26517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2788920"/>
            <a:ext cx="2651760" cy="9144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3063240"/>
            <a:ext cx="1371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D4A24C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8862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D4A24C"/>
                </a:solidFill>
                <a:latin typeface="Consolas"/>
              </a:rPr>
              <a:t>ACCEPT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76472" y="4389120"/>
            <a:ext cx="45720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61772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D2E2E"/>
                </a:solidFill>
                <a:latin typeface="Inter"/>
              </a:rPr>
              <a:t>Owner reviews
offers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06908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D4A24C"/>
                </a:solidFill>
                <a:latin typeface="Int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2788920"/>
            <a:ext cx="26517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8504" y="2788920"/>
            <a:ext cx="2651760" cy="914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3063240"/>
            <a:ext cx="1371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991B1B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38862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991B1B"/>
                </a:solidFill>
                <a:latin typeface="Consolas"/>
              </a:rPr>
              <a:t>COMPLETE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92824" y="4389120"/>
            <a:ext cx="457200" cy="54864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461772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D2E2E"/>
                </a:solidFill>
                <a:latin typeface="Inter"/>
              </a:rPr>
              <a:t>Donation marked
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406908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991B1B"/>
                </a:solidFill>
                <a:latin typeface="Inte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34856" y="2788920"/>
            <a:ext cx="26517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34856" y="2788920"/>
            <a:ext cx="265176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9176" y="3063240"/>
            <a:ext cx="1371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6A34A"/>
                </a:solidFill>
                <a:latin typeface="Consola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38862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6A34A"/>
                </a:solidFill>
                <a:latin typeface="Consolas"/>
              </a:rPr>
              <a:t>FULFILL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09176" y="4389120"/>
            <a:ext cx="4572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9176" y="461772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D2E2E"/>
                </a:solidFill>
                <a:latin typeface="Inter"/>
              </a:rPr>
              <a:t>Request → Fulfilled
Lives saved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6172200"/>
            <a:ext cx="10835640" cy="45720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6172200"/>
            <a:ext cx="9144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6281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91B1B"/>
                </a:solidFill>
                <a:latin typeface="Consolas"/>
              </a:rPr>
              <a:t>STATUS FLOW:   Pledged   →   Accepted   →   Completed   →   Fulfilled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219456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A1414"/>
                </a:solidFill>
                <a:latin typeface="Inter"/>
              </a:rPr>
              <a:t>Three-tier role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7A6D6D"/>
                </a:solidFill>
                <a:latin typeface="Inter"/>
              </a:rPr>
              <a:t>Enforced on every request — server-side only.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77724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2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788920"/>
            <a:ext cx="109728" cy="100584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D4A24C"/>
                </a:solidFill>
                <a:latin typeface="Inter"/>
              </a:rPr>
              <a:t>SuperAdmin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375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D2E2E"/>
                </a:solidFill>
                <a:latin typeface="Inter"/>
              </a:rPr>
              <a:t>Immutable · Cannot be banned or demoted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9718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Full system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331927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Owns the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931920"/>
            <a:ext cx="66751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3931920"/>
            <a:ext cx="109728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4069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991B1B"/>
                </a:solidFill>
                <a:latin typeface="Inter"/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48056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D2E2E"/>
                </a:solidFill>
                <a:latin typeface="Inter"/>
              </a:rPr>
              <a:t>Can manage users below · Moderate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1148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Ban regular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46227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Promote to 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83080" y="5074920"/>
            <a:ext cx="55778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83080" y="5074920"/>
            <a:ext cx="109728" cy="1005840"/>
          </a:xfrm>
          <a:prstGeom prst="rect">
            <a:avLst/>
          </a:prstGeom>
          <a:solidFill>
            <a:srgbClr val="1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5212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A1414"/>
                </a:solidFill>
                <a:latin typeface="Inter"/>
              </a:rPr>
              <a:t>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6235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D2E2E"/>
                </a:solidFill>
                <a:latin typeface="Inter"/>
              </a:rPr>
              <a:t>Basic access · Own profile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52578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Post requests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560527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Pledge to donate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731520"/>
            <a:ext cx="3657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0" b="1" i="0">
                <a:solidFill>
                  <a:srgbClr val="7F1D1D"/>
                </a:solidFill>
                <a:latin typeface="Inter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CCCC"/>
                </a:solidFill>
                <a:latin typeface="Consolas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0" b="1" i="0">
                <a:solidFill>
                  <a:srgbClr val="FFFFFF"/>
                </a:solidFill>
                <a:latin typeface="Inter"/>
              </a:rPr>
              <a:t>Live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2286000" cy="109728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FFE5E5"/>
                </a:solidFill>
                <a:latin typeface="Inter"/>
              </a:rPr>
              <a:t>Real evidence from the production deployment.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1737360" cy="347472"/>
          </a:xfrm>
          <a:prstGeom prst="round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140808"/>
                </a:solidFill>
                <a:latin typeface="Inter"/>
              </a:rPr>
              <a:t>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Inter"/>
              </a:rPr>
              <a:t>Homepage — the first impression.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835640" cy="4297680"/>
          </a:xfrm>
          <a:prstGeom prst="roundRect">
            <a:avLst/>
          </a:prstGeom>
          <a:solidFill>
            <a:srgbClr val="450A0A"/>
          </a:solidFill>
          <a:ln w="25400">
            <a:solidFill>
              <a:srgbClr val="D4A2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300" y="2103120"/>
            <a:ext cx="715264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55080"/>
            <a:ext cx="10835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1">
                <a:solidFill>
                  <a:srgbClr val="CCBBBB"/>
                </a:solidFill>
                <a:latin typeface="Inter"/>
              </a:rPr>
              <a:t>Cinematic hero · Live stats · Blood compatibility chart · Search widget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75555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201168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PUBLIC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A1414"/>
                </a:solidFill>
                <a:latin typeface="Inter"/>
              </a:rPr>
              <a:t>Core public experience.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5661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377440"/>
            <a:ext cx="356616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donor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49461"/>
            <a:ext cx="3419856" cy="19236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617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Donor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64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Verified profiles with availability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77440"/>
            <a:ext cx="35661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377440"/>
            <a:ext cx="356616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549461"/>
            <a:ext cx="3419856" cy="19236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4617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Compatibility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864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O−/AB+ medical logic in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377440"/>
            <a:ext cx="35661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2377440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4-reques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549461"/>
            <a:ext cx="3419856" cy="192366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21040" y="4617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Blood Requests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864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Filter by group, urgency,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219456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A1414"/>
                </a:solidFill>
                <a:latin typeface="Inter"/>
              </a:rPr>
              <a:t>Secure by design.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5661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377440"/>
            <a:ext cx="356616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49461"/>
            <a:ext cx="3419856" cy="19236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617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64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ConfirmPassword + AcceptTerms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77440"/>
            <a:ext cx="35661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377440"/>
            <a:ext cx="356616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549461"/>
            <a:ext cx="3419856" cy="19236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4617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864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Cookie session · 7-day sliding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377440"/>
            <a:ext cx="35661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2377440"/>
            <a:ext cx="356616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-login-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582513"/>
            <a:ext cx="3419856" cy="18575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21040" y="4617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Login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864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Invalid credentials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237744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DONOR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A1414"/>
                </a:solidFill>
                <a:latin typeface="Inter"/>
              </a:rPr>
              <a:t>From registration to donation.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5661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377440"/>
            <a:ext cx="356616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creat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49461"/>
            <a:ext cx="3419856" cy="19236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617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Donor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64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State dropdown + validations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77440"/>
            <a:ext cx="35661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377440"/>
            <a:ext cx="356616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549461"/>
            <a:ext cx="3419856" cy="19236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4617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Personal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864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Profile, requests, offers, stats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377440"/>
            <a:ext cx="35661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2377440"/>
            <a:ext cx="356616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-offer-pl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549461"/>
            <a:ext cx="3419856" cy="192366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21040" y="4617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Offer Pledge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864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One-click "I can donate"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182880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ADMIN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A1414"/>
                </a:solidFill>
                <a:latin typeface="Inter"/>
              </a:rPr>
              <a:t>Full control center.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5661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377440"/>
            <a:ext cx="356616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49461"/>
            <a:ext cx="3419856" cy="19236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617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Admin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64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Real-time stats + recent activity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77440"/>
            <a:ext cx="35661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377440"/>
            <a:ext cx="356616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-user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549461"/>
            <a:ext cx="3419856" cy="19236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4617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User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864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Ban · Promote · Delete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377440"/>
            <a:ext cx="35661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2377440"/>
            <a:ext cx="35661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4-mess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549461"/>
            <a:ext cx="3419856" cy="192366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21040" y="4617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Messages Inbox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864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Contact form submissions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182880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API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A1414"/>
                </a:solidFill>
                <a:latin typeface="Inter"/>
              </a:rPr>
              <a:t>Real evidence from Postman.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5394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539496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postman-get-don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958" y="2441448"/>
            <a:ext cx="2984643" cy="17739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297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GET /api/donor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445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200 OK · 4 donors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31720"/>
            <a:ext cx="5394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331720"/>
            <a:ext cx="539496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-postman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52" y="2441448"/>
            <a:ext cx="2980895" cy="17739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5080" y="4297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GET /api/donor/search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5445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Compatibility-aware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46320"/>
            <a:ext cx="5394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846320"/>
            <a:ext cx="539496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8-postman-401-unauthoriz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376" y="4956048"/>
            <a:ext cx="2411808" cy="17739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68122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POST /api/donor (no auth)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70591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401 Unauthorized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846320"/>
            <a:ext cx="5394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846320"/>
            <a:ext cx="53949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5-swag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568" y="4956048"/>
            <a:ext cx="3153664" cy="17739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55080" y="68122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1414"/>
                </a:solidFill>
                <a:latin typeface="Inter"/>
              </a:rPr>
              <a:t>Swagger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70591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7A6D6D"/>
                </a:solidFill>
                <a:latin typeface="Inter"/>
              </a:rPr>
              <a:t>Interactive API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155448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REST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Inter"/>
              </a:rPr>
              <a:t>18+ endpoints. Live-testable.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EF4444"/>
                </a:solidFill>
                <a:latin typeface="Inter"/>
              </a:rPr>
              <a:t>GET · POST · PUT · DELETE — full CRUD + Auth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822960" cy="310896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163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/api/donor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8346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98888"/>
                </a:solidFill>
                <a:latin typeface="Inter"/>
              </a:rPr>
              <a:t>List donors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0400"/>
            <a:ext cx="822960" cy="310896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2783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/api/donor/{id}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2461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98888"/>
                </a:solidFill>
                <a:latin typeface="Inter"/>
              </a:rPr>
              <a:t>Single donor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11880"/>
            <a:ext cx="822960" cy="310896"/>
          </a:xfrm>
          <a:prstGeom prst="round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63931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/api/donor/search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6576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98888"/>
                </a:solidFill>
                <a:latin typeface="Inter"/>
              </a:rPr>
              <a:t>Compat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23360"/>
            <a:ext cx="822960" cy="310896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5079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/api/donor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069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98888"/>
                </a:solidFill>
                <a:latin typeface="Inter"/>
              </a:rPr>
              <a:t>Create donor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34840"/>
            <a:ext cx="822960" cy="31089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622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/api/donor/{id}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4805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98888"/>
                </a:solidFill>
                <a:latin typeface="Inter"/>
              </a:rPr>
              <a:t>Update donor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46320"/>
            <a:ext cx="822960" cy="310896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8737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/api/donor/{id}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8920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98888"/>
                </a:solidFill>
                <a:latin typeface="Inter"/>
              </a:rPr>
              <a:t>Delete donor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257800"/>
            <a:ext cx="822960" cy="310896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28523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/api/auth/login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303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98888"/>
                </a:solidFill>
                <a:latin typeface="Inter"/>
              </a:rPr>
              <a:t>API login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669280"/>
            <a:ext cx="822960" cy="310896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69671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/api/auth/me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715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98888"/>
                </a:solidFill>
                <a:latin typeface="Inter"/>
              </a:rPr>
              <a:t>Current user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2651760"/>
            <a:ext cx="2926080" cy="3383280"/>
          </a:xfrm>
          <a:prstGeom prst="round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28346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D4A24C"/>
                </a:solidFill>
                <a:latin typeface="Consolas"/>
              </a:rPr>
              <a:t>WHY IT'S SOLID</a:t>
            </a:r>
          </a:p>
        </p:txBody>
      </p:sp>
      <p:sp>
        <p:nvSpPr>
          <p:cNvPr id="31" name="Oval 30"/>
          <p:cNvSpPr/>
          <p:nvPr/>
        </p:nvSpPr>
        <p:spPr>
          <a:xfrm>
            <a:off x="8823960" y="337413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329184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Proper HTTP verbs</a:t>
            </a:r>
          </a:p>
        </p:txBody>
      </p:sp>
      <p:sp>
        <p:nvSpPr>
          <p:cNvPr id="33" name="Oval 32"/>
          <p:cNvSpPr/>
          <p:nvPr/>
        </p:nvSpPr>
        <p:spPr>
          <a:xfrm>
            <a:off x="8823960" y="3776472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369417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Status codes 200-404</a:t>
            </a:r>
          </a:p>
        </p:txBody>
      </p:sp>
      <p:sp>
        <p:nvSpPr>
          <p:cNvPr id="35" name="Oval 34"/>
          <p:cNvSpPr/>
          <p:nvPr/>
        </p:nvSpPr>
        <p:spPr>
          <a:xfrm>
            <a:off x="8823960" y="4178808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409651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DTO pattern — privacy</a:t>
            </a:r>
          </a:p>
        </p:txBody>
      </p:sp>
      <p:sp>
        <p:nvSpPr>
          <p:cNvPr id="37" name="Oval 36"/>
          <p:cNvSpPr/>
          <p:nvPr/>
        </p:nvSpPr>
        <p:spPr>
          <a:xfrm>
            <a:off x="8823960" y="4581144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44988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Owner + Admin checks</a:t>
            </a:r>
          </a:p>
        </p:txBody>
      </p:sp>
      <p:sp>
        <p:nvSpPr>
          <p:cNvPr id="39" name="Oval 38"/>
          <p:cNvSpPr/>
          <p:nvPr/>
        </p:nvSpPr>
        <p:spPr>
          <a:xfrm>
            <a:off x="8823960" y="4983480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490118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Swagger live testing</a:t>
            </a:r>
          </a:p>
        </p:txBody>
      </p:sp>
      <p:sp>
        <p:nvSpPr>
          <p:cNvPr id="41" name="Oval 40"/>
          <p:cNvSpPr/>
          <p:nvPr/>
        </p:nvSpPr>
        <p:spPr>
          <a:xfrm>
            <a:off x="8823960" y="538581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53035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Postman-compatible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75555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731520"/>
            <a:ext cx="3657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0" b="1" i="0">
                <a:solidFill>
                  <a:srgbClr val="7F1D1D"/>
                </a:solidFill>
                <a:latin typeface="Inter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CCCC"/>
                </a:solidFill>
                <a:latin typeface="Consolas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0" b="1" i="0">
                <a:solidFill>
                  <a:srgbClr val="FFFFFF"/>
                </a:solidFill>
                <a:latin typeface="Inter"/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2286000" cy="109728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FFE5E5"/>
                </a:solidFill>
                <a:latin typeface="Inter"/>
              </a:rPr>
              <a:t>Everything you've seen — running right now, in production.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0" y="365760"/>
            <a:ext cx="3657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0" b="1" i="0">
                <a:solidFill>
                  <a:srgbClr val="991B1B"/>
                </a:solidFill>
                <a:latin typeface="Inter"/>
              </a:rPr>
              <a:t>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777240"/>
            <a:ext cx="1737360" cy="347472"/>
          </a:xfrm>
          <a:prstGeom prst="round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058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FFFFFF"/>
                </a:solidFill>
                <a:latin typeface="Inter"/>
              </a:rPr>
              <a:t>It's live. Right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88920"/>
            <a:ext cx="2011680" cy="109728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3200400"/>
            <a:ext cx="10652760" cy="1280160"/>
          </a:xfrm>
          <a:prstGeom prst="roundRect">
            <a:avLst/>
          </a:prstGeom>
          <a:solidFill>
            <a:srgbClr val="991B1B"/>
          </a:solidFill>
          <a:ln w="25400">
            <a:solidFill>
              <a:srgbClr val="D4A2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832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4A24C"/>
                </a:solidFill>
                <a:latin typeface="Consolas"/>
              </a:rPr>
              <a:t>LIVE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033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onsolas"/>
              </a:rPr>
              <a:t>bloodconnector.runasp.net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4A24C"/>
                </a:solidFill>
                <a:latin typeface="Consolas"/>
              </a:rPr>
              <a:t>DEMO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5780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admin@bloodconnect.com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Admin@123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8463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D4A24C"/>
                </a:solidFill>
                <a:latin typeface="Consolas"/>
              </a:rPr>
              <a:t>DEPLOYED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25780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MonsterASP.NET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7150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FFCCCC"/>
                </a:solidFill>
                <a:latin typeface="Inter"/>
              </a:rPr>
              <a:t>HTTPS  ·  Let's Encrypt  ·  Auto-deploy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146304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A1414"/>
                </a:solidFill>
                <a:latin typeface="Inter"/>
              </a:rPr>
              <a:t>Real numbers. Real promise.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26517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468880"/>
            <a:ext cx="265176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DC2626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0233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Lives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48056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per single donation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468880"/>
            <a:ext cx="26517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468880"/>
            <a:ext cx="2651760" cy="9144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301752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D4A24C"/>
                </a:solidFill>
                <a:latin typeface="Inter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Blood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48056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compatibility aware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468880"/>
            <a:ext cx="26517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468880"/>
            <a:ext cx="265176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01752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2563EB"/>
                </a:solidFill>
                <a:latin typeface="Inter"/>
              </a:rPr>
              <a:t>18+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0233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API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48056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RESTful + documented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2468880"/>
            <a:ext cx="26517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2468880"/>
            <a:ext cx="265176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301752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6A34A"/>
                </a:solidFill>
                <a:latin typeface="Inter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40233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448056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A6D6D"/>
                </a:solidFill>
                <a:latin typeface="Inter"/>
              </a:rPr>
              <a:t>zero cost, forever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86400"/>
            <a:ext cx="10835640" cy="91440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486400"/>
            <a:ext cx="109728" cy="914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2356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1A1414"/>
                </a:solidFill>
                <a:latin typeface="Inter"/>
              </a:rPr>
              <a:t>"One donation can save up to three lives. The only thing standing between a patient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94360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1A1414"/>
                </a:solidFill>
                <a:latin typeface="Inter"/>
              </a:rPr>
              <a:t>and a donor is a network. Help us build it."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201168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A1414"/>
                </a:solidFill>
                <a:latin typeface="Inter"/>
              </a:rPr>
              <a:t>What's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7A6D6D"/>
                </a:solidFill>
                <a:latin typeface="Inter"/>
              </a:rPr>
              <a:t>The roadmap from MVP to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2606040" y="2743200"/>
            <a:ext cx="27432" cy="4023360"/>
          </a:xfrm>
          <a:prstGeom prst="rect">
            <a:avLst/>
          </a:prstGeom>
          <a:solidFill>
            <a:srgbClr val="DD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3744" y="2697480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DC2626"/>
                </a:solidFill>
                <a:latin typeface="Consolas"/>
              </a:rPr>
              <a:t>Q1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606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6334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7A6D6D"/>
                </a:solidFill>
                <a:latin typeface="Inter"/>
              </a:rPr>
              <a:t>React Native / Flutter</a:t>
            </a:r>
          </a:p>
        </p:txBody>
      </p:sp>
      <p:sp>
        <p:nvSpPr>
          <p:cNvPr id="10" name="Oval 9"/>
          <p:cNvSpPr/>
          <p:nvPr/>
        </p:nvSpPr>
        <p:spPr>
          <a:xfrm>
            <a:off x="2523744" y="3383280"/>
            <a:ext cx="182880" cy="18288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19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D4A24C"/>
                </a:solidFill>
                <a:latin typeface="Consolas"/>
              </a:rPr>
              <a:t>Q2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918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Hospital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3192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7A6D6D"/>
                </a:solidFill>
                <a:latin typeface="Inter"/>
              </a:rPr>
              <a:t>Direct request integration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2523744" y="4069080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16A34A"/>
                </a:solidFill>
                <a:latin typeface="Consolas"/>
              </a:rPr>
              <a:t>Q3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9776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0050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7A6D6D"/>
                </a:solidFill>
                <a:latin typeface="Inter"/>
              </a:rPr>
              <a:t>Email (SendGrid) + SMS</a:t>
            </a:r>
          </a:p>
        </p:txBody>
      </p:sp>
      <p:sp>
        <p:nvSpPr>
          <p:cNvPr id="18" name="Oval 17"/>
          <p:cNvSpPr/>
          <p:nvPr/>
        </p:nvSpPr>
        <p:spPr>
          <a:xfrm>
            <a:off x="2523744" y="4754880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90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2563EB"/>
                </a:solidFill>
                <a:latin typeface="Consolas"/>
              </a:rPr>
              <a:t>Q4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6634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6908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7A6D6D"/>
                </a:solidFill>
                <a:latin typeface="Inter"/>
              </a:rPr>
              <a:t>Chart.js admin dashboards</a:t>
            </a:r>
          </a:p>
        </p:txBody>
      </p:sp>
      <p:sp>
        <p:nvSpPr>
          <p:cNvPr id="22" name="Oval 21"/>
          <p:cNvSpPr/>
          <p:nvPr/>
        </p:nvSpPr>
        <p:spPr>
          <a:xfrm>
            <a:off x="2523744" y="5440680"/>
            <a:ext cx="182880" cy="182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76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7C3AED"/>
                </a:solidFill>
                <a:latin typeface="Consolas"/>
              </a:rPr>
              <a:t>2028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3492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Multi-language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3766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7A6D6D"/>
                </a:solidFill>
                <a:latin typeface="Inter"/>
              </a:rPr>
              <a:t>Hindi · Gujarati · English</a:t>
            </a:r>
          </a:p>
        </p:txBody>
      </p:sp>
      <p:sp>
        <p:nvSpPr>
          <p:cNvPr id="26" name="Oval 25"/>
          <p:cNvSpPr/>
          <p:nvPr/>
        </p:nvSpPr>
        <p:spPr>
          <a:xfrm>
            <a:off x="2523744" y="6126480"/>
            <a:ext cx="182880" cy="18288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062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EA580C"/>
                </a:solidFill>
                <a:latin typeface="Consolas"/>
              </a:rPr>
              <a:t>2028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6035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414"/>
                </a:solidFill>
                <a:latin typeface="Inter"/>
              </a:rPr>
              <a:t>Map-based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60624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7A6D6D"/>
                </a:solidFill>
                <a:latin typeface="Inter"/>
              </a:rPr>
              <a:t>Google Maps donor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7A6D6D"/>
                </a:solidFill>
                <a:latin typeface="Consolas"/>
              </a:rPr>
              <a:t>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A6D6D"/>
                </a:solidFill>
                <a:latin typeface="Consolas"/>
              </a:rPr>
              <a:t>BLOODCONNECT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846320"/>
            <a:ext cx="4114800" cy="4114800"/>
          </a:xfrm>
          <a:prstGeom prst="ellipse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0680" y="822960"/>
            <a:ext cx="1280160" cy="128016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06440" y="109728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0" b="1" i="0">
                <a:solidFill>
                  <a:srgbClr val="FFFFFF"/>
                </a:solidFill>
                <a:latin typeface="Inter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2704" y="4023360"/>
            <a:ext cx="914400" cy="73152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0" i="1">
                <a:solidFill>
                  <a:srgbClr val="D4A24C"/>
                </a:solidFill>
                <a:latin typeface="Inter"/>
              </a:rPr>
              <a:t>Every drop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9175" y="5166360"/>
            <a:ext cx="3474720" cy="1051560"/>
          </a:xfrm>
          <a:prstGeom prst="roundRect">
            <a:avLst/>
          </a:prstGeom>
          <a:solidFill>
            <a:srgbClr val="450A0A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9175" y="5166360"/>
            <a:ext cx="91440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3495" y="53035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DC2626"/>
                </a:solidFill>
                <a:latin typeface="Consolas"/>
              </a:rPr>
              <a:t>LIVE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3495" y="56235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bloodconnector.runasp.net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8487" y="5166360"/>
            <a:ext cx="3474720" cy="1051560"/>
          </a:xfrm>
          <a:prstGeom prst="roundRect">
            <a:avLst/>
          </a:prstGeom>
          <a:solidFill>
            <a:srgbClr val="450A0A"/>
          </a:solidFill>
          <a:ln w="19050">
            <a:solidFill>
              <a:srgbClr val="D4A2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8487" y="5166360"/>
            <a:ext cx="91440" cy="105156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2807" y="53035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D4A24C"/>
                </a:solidFill>
                <a:latin typeface="Consolas"/>
              </a:rPr>
              <a:t>SOURCE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07" y="56235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github.com/rajputpri/BloodConnector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7799" y="5166360"/>
            <a:ext cx="3474720" cy="1051560"/>
          </a:xfrm>
          <a:prstGeom prst="roundRect">
            <a:avLst/>
          </a:prstGeom>
          <a:solidFill>
            <a:srgbClr val="450A0A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7799" y="5166360"/>
            <a:ext cx="9144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2119" y="53035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6A34A"/>
                </a:solidFill>
                <a:latin typeface="Consolas"/>
              </a:rPr>
              <a:t>PRESENTED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2119" y="56235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Prince Rajput  ·  BCA Sem-7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